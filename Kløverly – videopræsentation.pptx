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MEHMET (ca. 30 sek.) Hej, vi er Mehmet og Chadi, og det her er vores SEP1-projekt til reeksamen om Kløverly. Vi har lavet et administrationsprogram til koordinatoren, Grønne Bob, og en lille hjemmeside, der viser landsbyens grønne tiltag uden navne. Vi har delt præsentationen mellem os: Jeg tager problemfeltet, kravene og analysen. Chadi tager design, implementering, demo og test. Til sidst reflekterer vi begge.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MEHMET (ca. 30 sek.) Kort om opbygningen: Jeg starter med problemet og hvordan vi fandt kravene, og hvordan vi arbejdede med vandfaldsmodellen på én uge. Derefter overtager Chadi og viser designet, koden, en kort demo af programmet og testene. Vi slutter med en fælles refleksion og konklusionen.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MEHMET (ca. 1 min) Kløverly er en økologisk landsby. Koordinatoren Grønne Bob holder i dag styr på alt i en notesbog. I interviewet beskriver han tre typer opgaver, som skal behandles forskelligt: - Grønne tiltag giver point til en fælles pulje, som han kalder klimakapital, og skal vises uden navne som inspiration. - Fællesopgaver giver personlige point til den, der udfører dem. - Bytteopgaver betales med personlige point. Det svære er, at der er to slags point, og at Bob ikke vil have konkurrence eller tvang. Det har styret mange af vores valg, fx at hjemmesiden aldrig viser navne.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MEHMET (ca. 45 sek.) Det er vores problemformulering. Læs den op i korte træk. De fire underspørgsmål styrer resten af præsentationen: krav, pointregler, hjemmesiden og dokumentation gennem test. Vi vender tilbage til dem i konklusionen.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MEHMET (ca. 1 min) Vi brugte vandfaldsmodellen, fordi den er en del af kursets læringsmål, og fordi kravene var forholdsvis faste, når interviewet først var analyseret. Planen var én fase pr. dag. I praksis skete det ikke helt rent: Da vi besluttede, at point først gives, når en opgave er udført, tilføjede vi FR20 under designet, og vi måtte rette diagrammerne, så de passede med koden. Royce, der beskrev modellen, siger selv, at man skal kunne gå tilbage mellem faserne. Det har vi oplevet i praksis.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MEHMET (ca. 1½ min) Vi gik interviewet igennem sætning for sætning og skrev hvert ønske om til et krav på formen „Systemet skal kunne …“, med citatet ved siden af. Det var et direkte svar på kritikken fra sidst om svage krav. Alle krav har et ID, og ID’et går igen hele vejen. Eksemplet her: Bob siger, at personlige point skal kunne bruges ved bytteopgaver. Det bliver FR16, som er use case UC14, som er implementeret i Beboer.tilføjOpgave(), og som testes i T04 og T05. Det samlede overblik står i sporbarhedsmatricen i rapporten. Hvor Bob selv var i tvivl, fx om pointboostet, har vi afgrænset os i stedet for at finde på regler.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MEHMET (ca. 1 min) Kravene er omsat til 19 use cases. Diagrammet har to systemgrænser, fordi løsningen består af to dele. Administrationsprogrammet bruges kun af koordinatoren. Beboerne er altså ikke aktører i programmet – de findes kun som data. På hjemmesiden er beboere og eksterne besøgende aktører, men de kan kun læse. Use casene er delt i tre pakker, og de pakker blev senere til menupunkterne i programmet. Den vigtigste use case er UC19 Afslut opgave, fordi pointene behandles forskelligt efter typen. Den viser Chadi om lidt.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MEHMET (ca. 1½ min) Det vigtigste valg i analysen er, at point ikke gemmes som ét tal. Hver ændring er en pointpostering med dato, antal og årsag, og saldoen beregnes som summen. Det giver tre fordele: - Bob kan altid se, hvor pointene kommer fra. - En bytteopgave trækker point fra bestilleren, så snart den oprettes. Har bestilleren for få point, bliver den afvist, og saldoen kan aldrig blive negativ. - En nulstilling sletter ikke historikken. Den tilføjer bare en postering med minus saldoen. Det svarer på underspørgsmål 2. Nu giver jeg ordet til Chadi, som viser, hvordan det er designet og implementeret.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CHADI (ca. 1½ min) Tak, Mehmet. Programmet er delt i fire dele efter Model-View-Controller-idéen: - model indeholder domæneklasserne og reglerne, - data gemmer og indlæser og skriver datafilen til hjemmesiden, - controller har én klasse pr. skærmbillede, - og skærmbillederne er FXML med én fælles CSS-fil. Klassediagrammet er udviklet fra domænemodellen. Opgave er abstrakt med tre underklasser, så hver opgavetype kan behandles for sig. Vi overvejede at gemme saldoen som et tal og at bruge en enum for opgavetypen, men valgte posteringer og nedarvning. Det står begrundet i rapporten.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CHADI (ca. 1½ min) Det her er sekvensdiagrammet for UC19 Afslut opgave. Diagrammet har to livslinjer af typen Beboer, udføreren og bestilleren, fordi de skal behandles forskelligt ved en bytteopgave. Et alt-fragment deler forløbet i tre: - Ved en fællesopgave vælger koordinatoren udføreren, som får pointene. - Ved en bytteopgave er bestilleren fjernet fra listen, så man ikke kan betale sig selv. Udføreren får pointene, og bestilleren beholder betalingen. - Ved et grønt tiltag går pointene til fællespuljen. Efter fragmentet gemmes der altid, og hjemmesidens datafil bliver skrevet 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CHADI (ca. 1½ min) Her er den vigtigste regel i koden. Når en bytteopgave tilføjes til en beboer, beregner Beboer selv saldoen. Er prisen større end saldoen, kastes en IllegalArgumentException. Ellers registreres en negativ pointpostering, og opgaven lægges på bestillerens liste. Fordi reglen ligger i modelklassen, gælder den uanset hvor i brugerfladen en bytteopgave oprettes, og vi kan teste den med JUnit. Controlleren fanger undtagelsen og viser beskeden i en dialog, så programmet aldrig lukker ved en forkert indtastning (NFR02). En ærlig svaghed: Reglerne for at afslutte en opgave ligger i OpgaveController. Det diskuterer vi i rapporten, og vi anbefaler at flytte dem til modellen.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CHADI (ca. 1 min) Hjemmesiden kan ikke læse programmets binære fil. Derfor skriver programmet en separat datafil, data.json, hver gang der gemmes. Den indeholder kun samlede tal og de grønne tiltag med beskrivelse, dato og point. Der findes slet ikke et felt til navne, så hjemmesiden kan ikke komme til at vise, hvem der har gjort hvad. Det svarer på underspørgsmål 3. JavaScript henter filen med fetch og bygger kortene med textContent, så en beskrivelse altid vises som tekst. Siden skal åbnes gennem IntelliJ’s webserver – åbner man filen direkte, viser den en besked om, at data ikke kunne hentes.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CHADI – skift til programmet (ca. 2 min) Forbered: programmet kører med et par beboere, hvor Hanne har mindst 20 point, og hjemmesiden er åben i browseren via IntelliJ. 1. Opgaver → + Opret opgave → Type: Bytteopgave → Beboer: Hanne → beskrivelse, dato, 10 point → OK. Gå til Point og vis, at Hannes saldo er faldet med 10. 2. Opgaver → vælg bytteopgaven → Afslut opgave. Vis, at Hanne ikke står på listen. Vælg Jonas → OK. Vis Jonas’ point under Point. 3. Opret og afslut et grønt tiltag. Skift til browseren, tryk F5, og vis, at tiltaget står øverst uden navn. (Ekstra hvis tid: prøv en bytteopgave til 500 point og vis fejlbeskeden.)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CHADI (ca. 1½ min) Vi har testet på to niveauer. Unittests i BeboerTest kontrollerer pointreglerne direkte i modellen – alle 11 bestod. Black box-testene går gennem brugerfladen ud fra use casene – alle 15 bestod. Dertil fire tests af hjemmesiden og en test af hvert ikke-funktionelt krav. Testdata er valgt, så de rammer grænserne: Hanne har 20 point og bestiller for 10, som bliver godkendt. Bagefter har hun 10 og bestiller for 50, som bliver afvist. Sporbarhedsmatricen i rapporten viser, hvilken test der dækker hvert krav. Det svarer på underspørgsmål 4. Begrænsningen er, at vi selv har testet. Ingen rigtig bruger har prøvet programmet.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CHADI (ca. 45 sek.) – de to øverste kort - Arbejdsdeling: Fra tirsdag havde jeg koden og Mehmet rapporterne. Det gav fart, men vi skulle gennemgå hinandens arbejde, så vi begge kan forklare det hele. - AI: Vi har brugt ChatGPT og Claude meget. Det gjorde det muligt at nå en fungerende løsning på en uge, men fx var unittestene skrevet efter en gammel regel. Fejlene fandt vi, fordi vi sammenlignede diagrammer, kode og test. MEHMET (ca. 45 sek.) – de to nederste kort - Git: Torsdag blev mine rettelser i Astah-filen overskrevet, fordi git ikke kan flette en binær fil. Næste gang aftaler vi, hvem der arbejder i hvilke filer. - Konflikter: Vi var uenige om at starte forfra. Set med Glasls konflikttrappe blev uenigheden i den grønne zone, fordi vi holdt den på sagen. Men jeg burde have sagt mine bekymringer tydeligere fra starten.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MEHMET (ca. 1 min) For at samle op: Vi har lavet et system, der kan registrere de tre typer opgaver og de to slags point. Pointene er posteringer, så saldoen aldrig bliver negativ, og historikken bevares. Hjemmesiden viser de grønne tiltag uden navne, fordi navnene aldrig kommer med i datafilen. Og hvert krav kan spores til en bestået test. Løsningen dækker ikke alt: Skærmen i fælleshuset, mål for fællespuljen og pointboostet er ikke lavet. Vores anbefaling er at afklare med Bob, hvad skærmen skal vise, og at flytte reglerne for at afslutte opgaver ind i modellen. Tak fordi I så med – vi glæder os til samtalen til eksamen.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08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1B3D2F"/>
                </a:solidFill>
                <a:latin typeface="Domine" pitchFamily="34" charset="0"/>
                <a:ea typeface="Domine" pitchFamily="34" charset="-122"/>
                <a:cs typeface="Domin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50641"/>
            <a:ext cx="10566400" cy="4094559"/>
          </a:xfrm>
          <a:prstGeom prst="rect">
            <a:avLst/>
          </a:prstGeom>
          <a:noFill/>
          <a:ln/>
        </p:spPr>
        <p:txBody>
          <a:bodyPr wrap="square" lIns="0" tIns="0" rIns="0" bIns="0" rtlCol="0" anchor="t"/>
          <a:lstStyle>
            <a:lvl1pPr algn="l" indent="0" marL="0">
              <a:lnSpc>
                <a:spcPct val="140000"/>
              </a:lnSpc>
              <a:buNone/>
              <a:defRPr lang="en-US" sz="1600" dirty="0">
                <a:solidFill>
                  <a:srgbClr val="1B3D2F"/>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080"/>
            <a:ext cx="10566400" cy="525760"/>
          </a:xfrm>
          <a:prstGeom prst="rect">
            <a:avLst/>
          </a:prstGeom>
          <a:noFill/>
          <a:ln/>
        </p:spPr>
        <p:txBody>
          <a:bodyPr wrap="square" lIns="0" tIns="0" rIns="0" bIns="0" rtlCol="0" anchor="t"/>
          <a:lstStyle>
            <a:lvl1pPr algn="l" indent="0" marL="0">
              <a:lnSpc>
                <a:spcPct val="115000"/>
              </a:lnSpc>
              <a:buNone/>
              <a:defRPr lang="en-US" sz="3600" dirty="0">
                <a:solidFill>
                  <a:srgbClr val="1B3D2F"/>
                </a:solidFill>
                <a:latin typeface="Domine" pitchFamily="34" charset="0"/>
                <a:ea typeface="Domine" pitchFamily="34" charset="-122"/>
                <a:cs typeface="Domin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50641"/>
            <a:ext cx="10566400" cy="4094559"/>
          </a:xfrm>
          <a:prstGeom prst="rect">
            <a:avLst/>
          </a:prstGeom>
          <a:noFill/>
          <a:ln/>
        </p:spPr>
        <p:txBody>
          <a:bodyPr wrap="square" lIns="0" tIns="0" rIns="0" bIns="0" rtlCol="0" anchor="t"/>
          <a:lstStyle>
            <a:lvl1pPr algn="l" indent="0" marL="0">
              <a:lnSpc>
                <a:spcPct val="140000"/>
              </a:lnSpc>
              <a:buNone/>
              <a:defRPr lang="en-US" sz="1600" dirty="0">
                <a:solidFill>
                  <a:srgbClr val="1B3D2F"/>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D2F"/>
        </a:solidFill>
      </p:bgPr>
    </p:bg>
    <p:spTree>
      <p:nvGrpSpPr>
        <p:cNvPr id="1" name=""/>
        <p:cNvGrpSpPr/>
        <p:nvPr/>
      </p:nvGrpSpPr>
      <p:grpSpPr>
        <a:xfrm>
          <a:off x="0" y="0"/>
          <a:ext cx="0" cy="0"/>
          <a:chOff x="0" y="0"/>
          <a:chExt cx="0" cy="0"/>
        </a:xfrm>
      </p:grpSpPr>
      <p:sp>
        <p:nvSpPr>
          <p:cNvPr id="2" name="Text 0"/>
          <p:cNvSpPr/>
          <p:nvPr/>
        </p:nvSpPr>
        <p:spPr>
          <a:xfrm>
            <a:off x="812800" y="1875234"/>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CC9A8"/>
                </a:solidFill>
                <a:latin typeface="DM Sans" pitchFamily="34" charset="0"/>
                <a:ea typeface="DM Sans" pitchFamily="34" charset="-122"/>
                <a:cs typeface="DM Sans" pitchFamily="34" charset="-120"/>
              </a:rPr>
              <a:t>SEP1 REEKSAMEN · VIA UNIVERSITY COLLEGE</a:t>
            </a:r>
            <a:endParaRPr lang="en-US" sz="1400" dirty="0"/>
          </a:p>
        </p:txBody>
      </p:sp>
      <p:sp>
        <p:nvSpPr>
          <p:cNvPr id="3" name="Text 1"/>
          <p:cNvSpPr/>
          <p:nvPr>
            <p:ph type="title"/>
          </p:nvPr>
        </p:nvSpPr>
        <p:spPr>
          <a:xfrm>
            <a:off x="812800" y="2378075"/>
            <a:ext cx="10883392" cy="958850"/>
          </a:xfrm>
          <a:prstGeom prst="rect">
            <a:avLst/>
          </a:prstGeom>
          <a:noFill/>
          <a:ln/>
        </p:spPr>
        <p:txBody>
          <a:bodyPr wrap="square" lIns="0" tIns="0" rIns="0" bIns="0" rtlCol="0" anchor="t">
            <a:normAutofit/>
          </a:bodyPr>
          <a:lstStyle/>
          <a:p>
            <a:pPr algn="l" indent="0" marL="0">
              <a:lnSpc>
                <a:spcPts val="7350"/>
              </a:lnSpc>
              <a:buNone/>
            </a:pPr>
            <a:r>
              <a:rPr lang="en-US" sz="7000" b="1" i="0" dirty="0">
                <a:solidFill>
                  <a:srgbClr val="F6F4EE"/>
                </a:solidFill>
                <a:latin typeface="Domine" pitchFamily="18" charset="0"/>
                <a:ea typeface="Domine" pitchFamily="18" charset="-122"/>
                <a:cs typeface="Domine" pitchFamily="18" charset="-120"/>
              </a:rPr>
              <a:t>Kløverly</a:t>
            </a:r>
            <a:endParaRPr lang="en-US" sz="7000" dirty="0"/>
          </a:p>
        </p:txBody>
      </p:sp>
      <p:sp>
        <p:nvSpPr>
          <p:cNvPr id="4" name="Text 2"/>
          <p:cNvSpPr/>
          <p:nvPr/>
        </p:nvSpPr>
        <p:spPr>
          <a:xfrm>
            <a:off x="812800" y="3565525"/>
            <a:ext cx="8502650"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DCE8DF"/>
                </a:solidFill>
                <a:latin typeface="DM Sans" pitchFamily="34" charset="0"/>
                <a:ea typeface="DM Sans" pitchFamily="34" charset="-122"/>
                <a:cs typeface="DM Sans" pitchFamily="34" charset="-120"/>
              </a:rPr>
              <a:t>Et IT-system til grønne tiltag, fællesopgaver og bytteopgaver – og en hjemmeside, der viser dem uden navne</a:t>
            </a:r>
            <a:endParaRPr lang="en-US" sz="2200" dirty="0"/>
          </a:p>
        </p:txBody>
      </p:sp>
      <p:sp>
        <p:nvSpPr>
          <p:cNvPr id="5" name="Text 3"/>
          <p:cNvSpPr/>
          <p:nvPr/>
        </p:nvSpPr>
        <p:spPr>
          <a:xfrm>
            <a:off x="812800" y="4545806"/>
            <a:ext cx="1723033" cy="436860"/>
          </a:xfrm>
          <a:prstGeom prst="roundRect">
            <a:avLst>
              <a:gd name="adj" fmla="val 50000"/>
            </a:avLst>
          </a:prstGeom>
          <a:solidFill>
            <a:srgbClr val="9CC9A8"/>
          </a:solidFill>
          <a:ln/>
        </p:spPr>
        <p:txBody>
          <a:bodyPr wrap="none" lIns="0" tIns="0" rIns="0" bIns="0" rtlCol="0" anchor="ctr">
            <a:normAutofit/>
          </a:bodyPr>
          <a:lstStyle/>
          <a:p>
            <a:pPr algn="ctr" indent="0" marL="0">
              <a:lnSpc>
                <a:spcPts val="2240"/>
              </a:lnSpc>
              <a:buNone/>
            </a:pPr>
            <a:r>
              <a:rPr lang="en-US" sz="1600" dirty="0">
                <a:solidFill>
                  <a:srgbClr val="1B3D2F"/>
                </a:solidFill>
                <a:latin typeface="DM Sans" pitchFamily="34" charset="0"/>
                <a:ea typeface="DM Sans" pitchFamily="34" charset="-122"/>
                <a:cs typeface="DM Sans" pitchFamily="34" charset="-120"/>
              </a:rPr>
              <a:t>Mehmet Sahin</a:t>
            </a:r>
            <a:endParaRPr lang="en-US" sz="1600" dirty="0"/>
          </a:p>
        </p:txBody>
      </p:sp>
      <p:sp>
        <p:nvSpPr>
          <p:cNvPr id="6" name="Text 4"/>
          <p:cNvSpPr/>
          <p:nvPr/>
        </p:nvSpPr>
        <p:spPr>
          <a:xfrm>
            <a:off x="2688233" y="4545806"/>
            <a:ext cx="1860054" cy="436860"/>
          </a:xfrm>
          <a:prstGeom prst="roundRect">
            <a:avLst>
              <a:gd name="adj" fmla="val 50000"/>
            </a:avLst>
          </a:prstGeom>
          <a:solidFill>
            <a:srgbClr val="9CC9A8"/>
          </a:solidFill>
          <a:ln/>
        </p:spPr>
        <p:txBody>
          <a:bodyPr wrap="none" lIns="0" tIns="0" rIns="0" bIns="0" rtlCol="0" anchor="ctr">
            <a:normAutofit/>
          </a:bodyPr>
          <a:lstStyle/>
          <a:p>
            <a:pPr algn="ctr" indent="0" marL="0">
              <a:lnSpc>
                <a:spcPts val="2240"/>
              </a:lnSpc>
              <a:buNone/>
            </a:pPr>
            <a:r>
              <a:rPr lang="en-US" sz="1600" dirty="0">
                <a:solidFill>
                  <a:srgbClr val="1B3D2F"/>
                </a:solidFill>
                <a:latin typeface="DM Sans" pitchFamily="34" charset="0"/>
                <a:ea typeface="DM Sans" pitchFamily="34" charset="-122"/>
                <a:cs typeface="DM Sans" pitchFamily="34" charset="-120"/>
              </a:rPr>
              <a:t>Chadi El-Khatib</a:t>
            </a:r>
            <a:endParaRPr lang="en-US" sz="1600" dirty="0"/>
          </a:p>
        </p:txBody>
      </p:sp>
      <p:sp>
        <p:nvSpPr>
          <p:cNvPr id="7" name="Text 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C9A8"/>
                </a:solidFill>
                <a:latin typeface="DM Sans" pitchFamily="34" charset="0"/>
                <a:ea typeface="DM Sans" pitchFamily="34" charset="-122"/>
                <a:cs typeface="DM Sans" pitchFamily="34" charset="-120"/>
              </a:rPr>
              <a:t>Oktober 2026 · Vejledere: Michael Viuff og Troels Mortensen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3E8E5A"/>
                </a:solidFill>
                <a:latin typeface="DM Sans" pitchFamily="34" charset="0"/>
                <a:ea typeface="DM Sans" pitchFamily="34" charset="-122"/>
                <a:cs typeface="DM Sans" pitchFamily="34" charset="-120"/>
              </a:rPr>
              <a:t>OVERBLIK</a:t>
            </a:r>
            <a:endParaRPr lang="en-US" sz="1300" dirty="0"/>
          </a:p>
        </p:txBody>
      </p:sp>
      <p:sp>
        <p:nvSpPr>
          <p:cNvPr id="3" name="Text 1"/>
          <p:cNvSpPr/>
          <p:nvPr>
            <p:ph type="title"/>
          </p:nvPr>
        </p:nvSpPr>
        <p:spPr>
          <a:xfrm>
            <a:off x="812800" y="112008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B3D2F"/>
                </a:solidFill>
                <a:latin typeface="Domine" pitchFamily="18" charset="0"/>
                <a:ea typeface="Domine" pitchFamily="18" charset="-122"/>
                <a:cs typeface="Domine" pitchFamily="18" charset="-120"/>
              </a:rPr>
              <a:t>Sådan er præsentationen delt op</a:t>
            </a:r>
            <a:endParaRPr lang="en-US" sz="3600" dirty="0"/>
          </a:p>
        </p:txBody>
      </p:sp>
      <p:sp>
        <p:nvSpPr>
          <p:cNvPr id="4" name="Shape 2"/>
          <p:cNvSpPr/>
          <p:nvPr/>
        </p:nvSpPr>
        <p:spPr>
          <a:xfrm>
            <a:off x="815975" y="2004616"/>
            <a:ext cx="5149850" cy="2602210"/>
          </a:xfrm>
          <a:prstGeom prst="roundRect">
            <a:avLst>
              <a:gd name="adj" fmla="val 4758"/>
            </a:avLst>
          </a:prstGeom>
          <a:solidFill>
            <a:srgbClr val="FFFFFC"/>
          </a:solidFill>
          <a:ln w="6350">
            <a:solidFill>
              <a:srgbClr val="D8E2DA"/>
            </a:solidFill>
            <a:prstDash val="solid"/>
          </a:ln>
        </p:spPr>
      </p:sp>
      <p:sp>
        <p:nvSpPr>
          <p:cNvPr id="5" name="Text 3"/>
          <p:cNvSpPr/>
          <p:nvPr/>
        </p:nvSpPr>
        <p:spPr>
          <a:xfrm>
            <a:off x="1123950" y="2312591"/>
            <a:ext cx="466991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B3D2F"/>
                </a:solidFill>
                <a:latin typeface="DM Sans" pitchFamily="34" charset="0"/>
                <a:ea typeface="DM Sans" pitchFamily="34" charset="-122"/>
                <a:cs typeface="DM Sans" pitchFamily="34" charset="-120"/>
              </a:rPr>
              <a:t>Mehmet · ca. 9 min</a:t>
            </a:r>
            <a:endParaRPr lang="en-US" sz="2200" dirty="0"/>
          </a:p>
        </p:txBody>
      </p:sp>
      <p:sp>
        <p:nvSpPr>
          <p:cNvPr id="6" name="Text 4"/>
          <p:cNvSpPr/>
          <p:nvPr/>
        </p:nvSpPr>
        <p:spPr>
          <a:xfrm>
            <a:off x="1187958" y="2774851"/>
            <a:ext cx="4598289" cy="15494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3A4A42"/>
                </a:solidFill>
                <a:latin typeface="DM Sans" pitchFamily="34" charset="0"/>
                <a:ea typeface="DM Sans" pitchFamily="34" charset="-122"/>
                <a:cs typeface="DM Sans" pitchFamily="34" charset="-120"/>
              </a:rPr>
              <a:t>Problemfelt og problemformulering</a:t>
            </a:r>
            <a:endParaRPr lang="en-US" sz="1600" dirty="0"/>
          </a:p>
          <a:p>
            <a:pPr algn="l" marL="189992" indent="-189992">
              <a:lnSpc>
                <a:spcPts val="2400"/>
              </a:lnSpc>
              <a:buSzPct val="100000"/>
              <a:buChar char="•"/>
            </a:pPr>
            <a:r>
              <a:rPr lang="en-US" sz="1600" dirty="0">
                <a:solidFill>
                  <a:srgbClr val="3A4A42"/>
                </a:solidFill>
                <a:latin typeface="DM Sans" pitchFamily="34" charset="0"/>
                <a:ea typeface="DM Sans" pitchFamily="34" charset="-122"/>
                <a:cs typeface="DM Sans" pitchFamily="34" charset="-120"/>
              </a:rPr>
              <a:t>Metode: vandfald på én uge</a:t>
            </a:r>
            <a:endParaRPr lang="en-US" sz="1600" dirty="0"/>
          </a:p>
          <a:p>
            <a:pPr algn="l" marL="189992" indent="-189992">
              <a:lnSpc>
                <a:spcPts val="2400"/>
              </a:lnSpc>
              <a:buSzPct val="100000"/>
              <a:buChar char="•"/>
            </a:pPr>
            <a:r>
              <a:rPr lang="en-US" sz="1600" dirty="0">
                <a:solidFill>
                  <a:srgbClr val="3A4A42"/>
                </a:solidFill>
                <a:latin typeface="DM Sans" pitchFamily="34" charset="0"/>
                <a:ea typeface="DM Sans" pitchFamily="34" charset="-122"/>
                <a:cs typeface="DM Sans" pitchFamily="34" charset="-120"/>
              </a:rPr>
              <a:t>Krav og sporbarhed</a:t>
            </a:r>
            <a:endParaRPr lang="en-US" sz="1600" dirty="0"/>
          </a:p>
          <a:p>
            <a:pPr algn="l" marL="189992" indent="-189992">
              <a:lnSpc>
                <a:spcPts val="2400"/>
              </a:lnSpc>
              <a:buSzPct val="100000"/>
              <a:buChar char="•"/>
            </a:pPr>
            <a:r>
              <a:rPr lang="en-US" sz="1600" dirty="0">
                <a:solidFill>
                  <a:srgbClr val="3A4A42"/>
                </a:solidFill>
                <a:latin typeface="DM Sans" pitchFamily="34" charset="0"/>
                <a:ea typeface="DM Sans" pitchFamily="34" charset="-122"/>
                <a:cs typeface="DM Sans" pitchFamily="34" charset="-120"/>
              </a:rPr>
              <a:t>Use cases og pointregler</a:t>
            </a:r>
            <a:endParaRPr lang="en-US" sz="1600" dirty="0"/>
          </a:p>
          <a:p>
            <a:pPr algn="l" marL="189992" indent="-189992">
              <a:lnSpc>
                <a:spcPts val="2400"/>
              </a:lnSpc>
              <a:buSzPct val="100000"/>
              <a:buChar char="•"/>
            </a:pPr>
            <a:r>
              <a:rPr lang="en-US" sz="1600" dirty="0">
                <a:solidFill>
                  <a:srgbClr val="3A4A42"/>
                </a:solidFill>
                <a:latin typeface="DM Sans" pitchFamily="34" charset="0"/>
                <a:ea typeface="DM Sans" pitchFamily="34" charset="-122"/>
                <a:cs typeface="DM Sans" pitchFamily="34" charset="-120"/>
              </a:rPr>
              <a:t>Konklusion</a:t>
            </a:r>
            <a:endParaRPr lang="en-US" sz="1600" dirty="0"/>
          </a:p>
        </p:txBody>
      </p:sp>
      <p:sp>
        <p:nvSpPr>
          <p:cNvPr id="7" name="Shape 5"/>
          <p:cNvSpPr/>
          <p:nvPr/>
        </p:nvSpPr>
        <p:spPr>
          <a:xfrm>
            <a:off x="6226175" y="2004616"/>
            <a:ext cx="5149850" cy="2602210"/>
          </a:xfrm>
          <a:prstGeom prst="roundRect">
            <a:avLst>
              <a:gd name="adj" fmla="val 4758"/>
            </a:avLst>
          </a:prstGeom>
          <a:solidFill>
            <a:srgbClr val="FFFFFC"/>
          </a:solidFill>
          <a:ln w="6350">
            <a:solidFill>
              <a:srgbClr val="D8E2DA"/>
            </a:solidFill>
            <a:prstDash val="solid"/>
          </a:ln>
        </p:spPr>
      </p:sp>
      <p:sp>
        <p:nvSpPr>
          <p:cNvPr id="8" name="Text 6"/>
          <p:cNvSpPr/>
          <p:nvPr/>
        </p:nvSpPr>
        <p:spPr>
          <a:xfrm>
            <a:off x="6534150" y="2312591"/>
            <a:ext cx="4669917"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B3D2F"/>
                </a:solidFill>
                <a:latin typeface="DM Sans" pitchFamily="34" charset="0"/>
                <a:ea typeface="DM Sans" pitchFamily="34" charset="-122"/>
                <a:cs typeface="DM Sans" pitchFamily="34" charset="-120"/>
              </a:rPr>
              <a:t>Chadi · ca. 9 min + demo</a:t>
            </a:r>
            <a:endParaRPr lang="en-US" sz="2200" dirty="0"/>
          </a:p>
        </p:txBody>
      </p:sp>
      <p:sp>
        <p:nvSpPr>
          <p:cNvPr id="9" name="Text 7"/>
          <p:cNvSpPr/>
          <p:nvPr/>
        </p:nvSpPr>
        <p:spPr>
          <a:xfrm>
            <a:off x="6598158" y="2774851"/>
            <a:ext cx="4598289" cy="15494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3A4A42"/>
                </a:solidFill>
                <a:latin typeface="DM Sans" pitchFamily="34" charset="0"/>
                <a:ea typeface="DM Sans" pitchFamily="34" charset="-122"/>
                <a:cs typeface="DM Sans" pitchFamily="34" charset="-120"/>
              </a:rPr>
              <a:t>Arkitektur og klassediagram</a:t>
            </a:r>
            <a:endParaRPr lang="en-US" sz="1600" dirty="0"/>
          </a:p>
          <a:p>
            <a:pPr algn="l" marL="189992" indent="-189992">
              <a:lnSpc>
                <a:spcPts val="2400"/>
              </a:lnSpc>
              <a:buSzPct val="100000"/>
              <a:buChar char="•"/>
            </a:pPr>
            <a:r>
              <a:rPr lang="en-US" sz="1600" dirty="0">
                <a:solidFill>
                  <a:srgbClr val="3A4A42"/>
                </a:solidFill>
                <a:latin typeface="DM Sans" pitchFamily="34" charset="0"/>
                <a:ea typeface="DM Sans" pitchFamily="34" charset="-122"/>
                <a:cs typeface="DM Sans" pitchFamily="34" charset="-120"/>
              </a:rPr>
              <a:t>Sekvensdiagram for UC19</a:t>
            </a:r>
            <a:endParaRPr lang="en-US" sz="1600" dirty="0"/>
          </a:p>
          <a:p>
            <a:pPr algn="l" marL="189992" indent="-189992">
              <a:lnSpc>
                <a:spcPts val="2400"/>
              </a:lnSpc>
              <a:buSzPct val="100000"/>
              <a:buChar char="•"/>
            </a:pPr>
            <a:r>
              <a:rPr lang="en-US" sz="1600" dirty="0">
                <a:solidFill>
                  <a:srgbClr val="3A4A42"/>
                </a:solidFill>
                <a:latin typeface="DM Sans" pitchFamily="34" charset="0"/>
                <a:ea typeface="DM Sans" pitchFamily="34" charset="-122"/>
                <a:cs typeface="DM Sans" pitchFamily="34" charset="-120"/>
              </a:rPr>
              <a:t>Udvalgt kode og hjemmesiden</a:t>
            </a:r>
            <a:endParaRPr lang="en-US" sz="1600" dirty="0"/>
          </a:p>
          <a:p>
            <a:pPr algn="l" marL="189992" indent="-189992">
              <a:lnSpc>
                <a:spcPts val="2400"/>
              </a:lnSpc>
              <a:buSzPct val="100000"/>
              <a:buChar char="•"/>
            </a:pPr>
            <a:r>
              <a:rPr lang="en-US" sz="1600" dirty="0">
                <a:solidFill>
                  <a:srgbClr val="3A4A42"/>
                </a:solidFill>
                <a:latin typeface="DM Sans" pitchFamily="34" charset="0"/>
                <a:ea typeface="DM Sans" pitchFamily="34" charset="-122"/>
                <a:cs typeface="DM Sans" pitchFamily="34" charset="-120"/>
              </a:rPr>
              <a:t>Live demo (2 min)</a:t>
            </a:r>
            <a:endParaRPr lang="en-US" sz="1600" dirty="0"/>
          </a:p>
          <a:p>
            <a:pPr algn="l" marL="189992" indent="-189992">
              <a:lnSpc>
                <a:spcPts val="2400"/>
              </a:lnSpc>
              <a:buSzPct val="100000"/>
              <a:buChar char="•"/>
            </a:pPr>
            <a:r>
              <a:rPr lang="en-US" sz="1600" dirty="0">
                <a:solidFill>
                  <a:srgbClr val="3A4A42"/>
                </a:solidFill>
                <a:latin typeface="DM Sans" pitchFamily="34" charset="0"/>
                <a:ea typeface="DM Sans" pitchFamily="34" charset="-122"/>
                <a:cs typeface="DM Sans" pitchFamily="34" charset="-120"/>
              </a:rPr>
              <a:t>Test og refleksion</a:t>
            </a:r>
            <a:endParaRPr lang="en-US" sz="1600" dirty="0"/>
          </a:p>
        </p:txBody>
      </p:sp>
      <p:sp>
        <p:nvSpPr>
          <p:cNvPr id="10"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A71"/>
                </a:solidFill>
                <a:latin typeface="DM Sans" pitchFamily="34" charset="0"/>
                <a:ea typeface="DM Sans" pitchFamily="34" charset="-122"/>
                <a:cs typeface="DM Sans" pitchFamily="34" charset="-120"/>
              </a:rPr>
              <a:t>Kløverly · SEP1 reeksamen</a:t>
            </a:r>
            <a:endParaRPr lang="en-US" sz="1200" dirty="0"/>
          </a:p>
        </p:txBody>
      </p:sp>
      <p:sp>
        <p:nvSpPr>
          <p:cNvPr id="11" name="Text 9"/>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3E8E5A"/>
                </a:solidFill>
                <a:latin typeface="DM Sans" pitchFamily="34" charset="0"/>
                <a:ea typeface="DM Sans" pitchFamily="34" charset="-122"/>
                <a:cs typeface="DM Sans" pitchFamily="34" charset="-120"/>
              </a:rPr>
              <a:t>Mehmet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3E8E5A"/>
                </a:solidFill>
                <a:latin typeface="DM Sans" pitchFamily="34" charset="0"/>
                <a:ea typeface="DM Sans" pitchFamily="34" charset="-122"/>
                <a:cs typeface="DM Sans" pitchFamily="34" charset="-120"/>
              </a:rPr>
              <a:t>PROBLEMFELT</a:t>
            </a:r>
            <a:endParaRPr lang="en-US" sz="1300" dirty="0"/>
          </a:p>
        </p:txBody>
      </p:sp>
      <p:sp>
        <p:nvSpPr>
          <p:cNvPr id="3" name="Text 1"/>
          <p:cNvSpPr/>
          <p:nvPr>
            <p:ph type="title"/>
          </p:nvPr>
        </p:nvSpPr>
        <p:spPr>
          <a:xfrm>
            <a:off x="812800" y="112008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B3D2F"/>
                </a:solidFill>
                <a:latin typeface="Domine" pitchFamily="18" charset="0"/>
                <a:ea typeface="Domine" pitchFamily="18" charset="-122"/>
                <a:cs typeface="Domine" pitchFamily="18" charset="-120"/>
              </a:rPr>
              <a:t>Bob vil erstatte sin notesbog</a:t>
            </a:r>
            <a:endParaRPr lang="en-US" sz="3600" dirty="0"/>
          </a:p>
        </p:txBody>
      </p:sp>
      <p:sp>
        <p:nvSpPr>
          <p:cNvPr id="4" name="Shape 2"/>
          <p:cNvSpPr/>
          <p:nvPr/>
        </p:nvSpPr>
        <p:spPr>
          <a:xfrm>
            <a:off x="815975" y="1953816"/>
            <a:ext cx="3380284" cy="1720850"/>
          </a:xfrm>
          <a:prstGeom prst="roundRect">
            <a:avLst>
              <a:gd name="adj" fmla="val 5720"/>
            </a:avLst>
          </a:prstGeom>
          <a:solidFill>
            <a:srgbClr val="FFFFFC"/>
          </a:solidFill>
          <a:ln w="6350">
            <a:solidFill>
              <a:srgbClr val="D8E2DA"/>
            </a:solidFill>
            <a:prstDash val="solid"/>
          </a:ln>
        </p:spPr>
      </p:sp>
      <p:sp>
        <p:nvSpPr>
          <p:cNvPr id="5" name="Text 3"/>
          <p:cNvSpPr/>
          <p:nvPr/>
        </p:nvSpPr>
        <p:spPr>
          <a:xfrm>
            <a:off x="1073150" y="2210991"/>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3D2F"/>
                </a:solidFill>
                <a:latin typeface="DM Sans" pitchFamily="34" charset="0"/>
                <a:ea typeface="DM Sans" pitchFamily="34" charset="-122"/>
                <a:cs typeface="DM Sans" pitchFamily="34" charset="-120"/>
              </a:rPr>
              <a:t>Grønne tiltag</a:t>
            </a:r>
            <a:endParaRPr lang="en-US" sz="2000" dirty="0"/>
          </a:p>
        </p:txBody>
      </p:sp>
      <p:sp>
        <p:nvSpPr>
          <p:cNvPr id="6" name="Text 4"/>
          <p:cNvSpPr/>
          <p:nvPr/>
        </p:nvSpPr>
        <p:spPr>
          <a:xfrm>
            <a:off x="1073150" y="2617391"/>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A42"/>
                </a:solidFill>
                <a:latin typeface="DM Sans" pitchFamily="34" charset="0"/>
                <a:ea typeface="DM Sans" pitchFamily="34" charset="-122"/>
                <a:cs typeface="DM Sans" pitchFamily="34" charset="-120"/>
              </a:rPr>
              <a:t>Fx at cykle på arbejde i en uge. Giver point til en fælles pulje og vises uden navn.</a:t>
            </a:r>
            <a:endParaRPr lang="en-US" sz="1500" dirty="0"/>
          </a:p>
        </p:txBody>
      </p:sp>
      <p:sp>
        <p:nvSpPr>
          <p:cNvPr id="7" name="Shape 5"/>
          <p:cNvSpPr/>
          <p:nvPr/>
        </p:nvSpPr>
        <p:spPr>
          <a:xfrm>
            <a:off x="4405809" y="1953816"/>
            <a:ext cx="3380383" cy="1720850"/>
          </a:xfrm>
          <a:prstGeom prst="roundRect">
            <a:avLst>
              <a:gd name="adj" fmla="val 5720"/>
            </a:avLst>
          </a:prstGeom>
          <a:solidFill>
            <a:srgbClr val="FFFFFC"/>
          </a:solidFill>
          <a:ln w="6350">
            <a:solidFill>
              <a:srgbClr val="D8E2DA"/>
            </a:solidFill>
            <a:prstDash val="solid"/>
          </a:ln>
        </p:spPr>
      </p:sp>
      <p:sp>
        <p:nvSpPr>
          <p:cNvPr id="8" name="Text 6"/>
          <p:cNvSpPr/>
          <p:nvPr/>
        </p:nvSpPr>
        <p:spPr>
          <a:xfrm>
            <a:off x="4662984" y="2210991"/>
            <a:ext cx="295201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3D2F"/>
                </a:solidFill>
                <a:latin typeface="DM Sans" pitchFamily="34" charset="0"/>
                <a:ea typeface="DM Sans" pitchFamily="34" charset="-122"/>
                <a:cs typeface="DM Sans" pitchFamily="34" charset="-120"/>
              </a:rPr>
              <a:t>Fællesopgaver</a:t>
            </a:r>
            <a:endParaRPr lang="en-US" sz="2000" dirty="0"/>
          </a:p>
        </p:txBody>
      </p:sp>
      <p:sp>
        <p:nvSpPr>
          <p:cNvPr id="9" name="Text 7"/>
          <p:cNvSpPr/>
          <p:nvPr/>
        </p:nvSpPr>
        <p:spPr>
          <a:xfrm>
            <a:off x="4662984" y="2617391"/>
            <a:ext cx="295201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A42"/>
                </a:solidFill>
                <a:latin typeface="DM Sans" pitchFamily="34" charset="0"/>
                <a:ea typeface="DM Sans" pitchFamily="34" charset="-122"/>
                <a:cs typeface="DM Sans" pitchFamily="34" charset="-120"/>
              </a:rPr>
              <a:t>Fx havetjans eller madlavning. Giver personlige point til den, der udfører opgaven.</a:t>
            </a:r>
            <a:endParaRPr lang="en-US" sz="1500" dirty="0"/>
          </a:p>
        </p:txBody>
      </p:sp>
      <p:sp>
        <p:nvSpPr>
          <p:cNvPr id="10" name="Shape 8"/>
          <p:cNvSpPr/>
          <p:nvPr/>
        </p:nvSpPr>
        <p:spPr>
          <a:xfrm>
            <a:off x="7995741" y="1953816"/>
            <a:ext cx="3380284" cy="1720850"/>
          </a:xfrm>
          <a:prstGeom prst="roundRect">
            <a:avLst>
              <a:gd name="adj" fmla="val 5720"/>
            </a:avLst>
          </a:prstGeom>
          <a:solidFill>
            <a:srgbClr val="FFFFFC"/>
          </a:solidFill>
          <a:ln w="6350">
            <a:solidFill>
              <a:srgbClr val="D8E2DA"/>
            </a:solidFill>
            <a:prstDash val="solid"/>
          </a:ln>
        </p:spPr>
      </p:sp>
      <p:sp>
        <p:nvSpPr>
          <p:cNvPr id="11" name="Text 9"/>
          <p:cNvSpPr/>
          <p:nvPr/>
        </p:nvSpPr>
        <p:spPr>
          <a:xfrm>
            <a:off x="8252916" y="2210991"/>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3D2F"/>
                </a:solidFill>
                <a:latin typeface="DM Sans" pitchFamily="34" charset="0"/>
                <a:ea typeface="DM Sans" pitchFamily="34" charset="-122"/>
                <a:cs typeface="DM Sans" pitchFamily="34" charset="-120"/>
              </a:rPr>
              <a:t>Bytteopgaver</a:t>
            </a:r>
            <a:endParaRPr lang="en-US" sz="2000" dirty="0"/>
          </a:p>
        </p:txBody>
      </p:sp>
      <p:sp>
        <p:nvSpPr>
          <p:cNvPr id="12" name="Text 10"/>
          <p:cNvSpPr/>
          <p:nvPr/>
        </p:nvSpPr>
        <p:spPr>
          <a:xfrm>
            <a:off x="8252916" y="2617391"/>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A42"/>
                </a:solidFill>
                <a:latin typeface="DM Sans" pitchFamily="34" charset="0"/>
                <a:ea typeface="DM Sans" pitchFamily="34" charset="-122"/>
                <a:cs typeface="DM Sans" pitchFamily="34" charset="-120"/>
              </a:rPr>
              <a:t>Fx vinduespudsning. Betales med personlige point fra den, der bestiller.</a:t>
            </a:r>
            <a:endParaRPr lang="en-US" sz="1500" dirty="0"/>
          </a:p>
        </p:txBody>
      </p:sp>
      <p:sp>
        <p:nvSpPr>
          <p:cNvPr id="13" name="Text 11"/>
          <p:cNvSpPr/>
          <p:nvPr/>
        </p:nvSpPr>
        <p:spPr>
          <a:xfrm>
            <a:off x="812800" y="3982641"/>
            <a:ext cx="10566400" cy="675580"/>
          </a:xfrm>
          <a:prstGeom prst="roundRect">
            <a:avLst>
              <a:gd name="adj" fmla="val 15039"/>
            </a:avLst>
          </a:prstGeom>
          <a:solidFill>
            <a:srgbClr val="E4EDE5"/>
          </a:solidFill>
          <a:ln/>
        </p:spPr>
        <p:txBody>
          <a:bodyPr wrap="square" lIns="224242" tIns="148042" rIns="0" bIns="122642" rtlCol="0" anchor="t">
            <a:normAutofit/>
          </a:bodyPr>
          <a:lstStyle/>
          <a:p>
            <a:pPr algn="l" indent="0" marL="0">
              <a:lnSpc>
                <a:spcPts val="2520"/>
              </a:lnSpc>
              <a:buNone/>
            </a:pPr>
            <a:r>
              <a:rPr lang="en-US" sz="1800" dirty="0">
                <a:solidFill>
                  <a:srgbClr val="1B3D2F"/>
                </a:solidFill>
                <a:latin typeface="DM Sans" pitchFamily="34" charset="0"/>
                <a:ea typeface="DM Sans" pitchFamily="34" charset="-122"/>
                <a:cs typeface="DM Sans" pitchFamily="34" charset="-120"/>
              </a:rPr>
              <a:t>Udfordringen: to slags point – </a:t>
            </a:r>
            <a:r>
              <a:rPr lang="en-US" sz="1800" b="1" dirty="0">
                <a:solidFill>
                  <a:srgbClr val="1B3D2F"/>
                </a:solidFill>
                <a:latin typeface="DM Sans" pitchFamily="34" charset="0"/>
                <a:ea typeface="DM Sans" pitchFamily="34" charset="-122"/>
                <a:cs typeface="DM Sans" pitchFamily="34" charset="-120"/>
              </a:rPr>
              <a:t>uden</a:t>
            </a:r>
            <a:r>
              <a:rPr lang="en-US" sz="1800" dirty="0">
                <a:solidFill>
                  <a:srgbClr val="1B3D2F"/>
                </a:solidFill>
                <a:latin typeface="DM Sans" pitchFamily="34" charset="0"/>
                <a:ea typeface="DM Sans" pitchFamily="34" charset="-122"/>
                <a:cs typeface="DM Sans" pitchFamily="34" charset="-120"/>
              </a:rPr>
              <a:t> at fællesskabet bliver til en konkurrence.</a:t>
            </a:r>
            <a:endParaRPr lang="en-US" sz="1800" dirty="0"/>
          </a:p>
        </p:txBody>
      </p:sp>
      <p:sp>
        <p:nvSpPr>
          <p:cNvPr id="14" name="Text 1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A71"/>
                </a:solidFill>
                <a:latin typeface="DM Sans" pitchFamily="34" charset="0"/>
                <a:ea typeface="DM Sans" pitchFamily="34" charset="-122"/>
                <a:cs typeface="DM Sans" pitchFamily="34" charset="-120"/>
              </a:rPr>
              <a:t>Kløverly · SEP1 reeksamen</a:t>
            </a:r>
            <a:endParaRPr lang="en-US" sz="1200" dirty="0"/>
          </a:p>
        </p:txBody>
      </p:sp>
      <p:sp>
        <p:nvSpPr>
          <p:cNvPr id="15" name="Text 13"/>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3E8E5A"/>
                </a:solidFill>
                <a:latin typeface="DM Sans" pitchFamily="34" charset="0"/>
                <a:ea typeface="DM Sans" pitchFamily="34" charset="-122"/>
                <a:cs typeface="DM Sans" pitchFamily="34" charset="-120"/>
              </a:rPr>
              <a:t>Mehmet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9EF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3E8E5A"/>
                </a:solidFill>
                <a:latin typeface="DM Sans" pitchFamily="34" charset="0"/>
                <a:ea typeface="DM Sans" pitchFamily="34" charset="-122"/>
                <a:cs typeface="DM Sans" pitchFamily="34" charset="-120"/>
              </a:rPr>
              <a:t>PROBLEMFORMULERING</a:t>
            </a:r>
            <a:endParaRPr lang="en-US" sz="1300" dirty="0"/>
          </a:p>
        </p:txBody>
      </p:sp>
      <p:sp>
        <p:nvSpPr>
          <p:cNvPr id="3" name="Text 1"/>
          <p:cNvSpPr/>
          <p:nvPr/>
        </p:nvSpPr>
        <p:spPr>
          <a:xfrm>
            <a:off x="812800" y="1120080"/>
            <a:ext cx="10883392" cy="1156791"/>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1B3D2F"/>
                </a:solidFill>
                <a:latin typeface="Domine" pitchFamily="18" charset="0"/>
                <a:ea typeface="Domine" pitchFamily="18" charset="-122"/>
                <a:cs typeface="Domine" pitchFamily="18" charset="-120"/>
              </a:rPr>
              <a:t>Hvordan kan vi udvikle et IT-system, der hjælper koordinatoren med at registrere de tre typer opgaver og de to typer point – og som formidler de grønne tiltag uden at udstille den enkelte beboer?</a:t>
            </a:r>
            <a:endParaRPr lang="en-US" sz="2200" dirty="0"/>
          </a:p>
        </p:txBody>
      </p:sp>
      <p:sp>
        <p:nvSpPr>
          <p:cNvPr id="4" name="Text 2"/>
          <p:cNvSpPr/>
          <p:nvPr/>
        </p:nvSpPr>
        <p:spPr>
          <a:xfrm>
            <a:off x="812800" y="2530872"/>
            <a:ext cx="5207000" cy="889000"/>
          </a:xfrm>
          <a:prstGeom prst="roundRect">
            <a:avLst>
              <a:gd name="adj" fmla="val 11429"/>
            </a:avLst>
          </a:prstGeom>
          <a:solidFill>
            <a:srgbClr val="FFFFFC"/>
          </a:solidFill>
          <a:ln/>
        </p:spPr>
        <p:txBody>
          <a:bodyPr wrap="square" lIns="173442" tIns="148042" rIns="29424" bIns="122642" rtlCol="0" anchor="t">
            <a:normAutofit/>
          </a:bodyPr>
          <a:lstStyle/>
          <a:p>
            <a:pPr algn="l" indent="0" marL="0">
              <a:lnSpc>
                <a:spcPts val="2100"/>
              </a:lnSpc>
              <a:buNone/>
            </a:pPr>
            <a:r>
              <a:rPr lang="en-US" sz="1500" b="1" dirty="0">
                <a:solidFill>
                  <a:srgbClr val="3A4A42"/>
                </a:solidFill>
                <a:latin typeface="DM Sans" pitchFamily="34" charset="0"/>
                <a:ea typeface="DM Sans" pitchFamily="34" charset="-122"/>
                <a:cs typeface="DM Sans" pitchFamily="34" charset="-120"/>
              </a:rPr>
              <a:t>1.</a:t>
            </a:r>
            <a:r>
              <a:rPr lang="en-US" sz="1500" dirty="0">
                <a:solidFill>
                  <a:srgbClr val="3A4A42"/>
                </a:solidFill>
                <a:latin typeface="DM Sans" pitchFamily="34" charset="0"/>
                <a:ea typeface="DM Sans" pitchFamily="34" charset="-122"/>
                <a:cs typeface="DM Sans" pitchFamily="34" charset="-120"/>
              </a:rPr>
              <a:t> Hvilke krav kan udledes af interviewet, og hvordan bliver de testbare?</a:t>
            </a:r>
            <a:endParaRPr lang="en-US" sz="1500" dirty="0"/>
          </a:p>
        </p:txBody>
      </p:sp>
      <p:sp>
        <p:nvSpPr>
          <p:cNvPr id="5" name="Text 3"/>
          <p:cNvSpPr/>
          <p:nvPr/>
        </p:nvSpPr>
        <p:spPr>
          <a:xfrm>
            <a:off x="6172200" y="2530872"/>
            <a:ext cx="5207000" cy="889000"/>
          </a:xfrm>
          <a:prstGeom prst="roundRect">
            <a:avLst>
              <a:gd name="adj" fmla="val 11429"/>
            </a:avLst>
          </a:prstGeom>
          <a:solidFill>
            <a:srgbClr val="FFFFFC"/>
          </a:solidFill>
          <a:ln/>
        </p:spPr>
        <p:txBody>
          <a:bodyPr wrap="square" lIns="173442" tIns="148042" rIns="29424" bIns="122642" rtlCol="0" anchor="t">
            <a:normAutofit/>
          </a:bodyPr>
          <a:lstStyle/>
          <a:p>
            <a:pPr algn="l" indent="0" marL="0">
              <a:lnSpc>
                <a:spcPts val="2100"/>
              </a:lnSpc>
              <a:buNone/>
            </a:pPr>
            <a:r>
              <a:rPr lang="en-US" sz="1500" b="1" dirty="0">
                <a:solidFill>
                  <a:srgbClr val="3A4A42"/>
                </a:solidFill>
                <a:latin typeface="DM Sans" pitchFamily="34" charset="0"/>
                <a:ea typeface="DM Sans" pitchFamily="34" charset="-122"/>
                <a:cs typeface="DM Sans" pitchFamily="34" charset="-120"/>
              </a:rPr>
              <a:t>2.</a:t>
            </a:r>
            <a:r>
              <a:rPr lang="en-US" sz="1500" dirty="0">
                <a:solidFill>
                  <a:srgbClr val="3A4A42"/>
                </a:solidFill>
                <a:latin typeface="DM Sans" pitchFamily="34" charset="0"/>
                <a:ea typeface="DM Sans" pitchFamily="34" charset="-122"/>
                <a:cs typeface="DM Sans" pitchFamily="34" charset="-120"/>
              </a:rPr>
              <a:t> Hvordan modelleres pointreglerne, så saldoen aldrig bliver negativ?</a:t>
            </a:r>
            <a:endParaRPr lang="en-US" sz="1500" dirty="0"/>
          </a:p>
        </p:txBody>
      </p:sp>
      <p:sp>
        <p:nvSpPr>
          <p:cNvPr id="6" name="Text 4"/>
          <p:cNvSpPr/>
          <p:nvPr/>
        </p:nvSpPr>
        <p:spPr>
          <a:xfrm>
            <a:off x="812800" y="3572272"/>
            <a:ext cx="5207000" cy="889000"/>
          </a:xfrm>
          <a:prstGeom prst="roundRect">
            <a:avLst>
              <a:gd name="adj" fmla="val 11429"/>
            </a:avLst>
          </a:prstGeom>
          <a:solidFill>
            <a:srgbClr val="FFFFFC"/>
          </a:solidFill>
          <a:ln/>
        </p:spPr>
        <p:txBody>
          <a:bodyPr wrap="square" lIns="173442" tIns="148042" rIns="29424" bIns="122642" rtlCol="0" anchor="t">
            <a:normAutofit/>
          </a:bodyPr>
          <a:lstStyle/>
          <a:p>
            <a:pPr algn="l" indent="0" marL="0">
              <a:lnSpc>
                <a:spcPts val="2100"/>
              </a:lnSpc>
              <a:buNone/>
            </a:pPr>
            <a:r>
              <a:rPr lang="en-US" sz="1500" b="1" dirty="0">
                <a:solidFill>
                  <a:srgbClr val="3A4A42"/>
                </a:solidFill>
                <a:latin typeface="DM Sans" pitchFamily="34" charset="0"/>
                <a:ea typeface="DM Sans" pitchFamily="34" charset="-122"/>
                <a:cs typeface="DM Sans" pitchFamily="34" charset="-120"/>
              </a:rPr>
              <a:t>3.</a:t>
            </a:r>
            <a:r>
              <a:rPr lang="en-US" sz="1500" dirty="0">
                <a:solidFill>
                  <a:srgbClr val="3A4A42"/>
                </a:solidFill>
                <a:latin typeface="DM Sans" pitchFamily="34" charset="0"/>
                <a:ea typeface="DM Sans" pitchFamily="34" charset="-122"/>
                <a:cs typeface="DM Sans" pitchFamily="34" charset="-120"/>
              </a:rPr>
              <a:t> Hvordan vises data på en hjemmeside uden personoplysninger?</a:t>
            </a:r>
            <a:endParaRPr lang="en-US" sz="1500" dirty="0"/>
          </a:p>
        </p:txBody>
      </p:sp>
      <p:sp>
        <p:nvSpPr>
          <p:cNvPr id="7" name="Text 5"/>
          <p:cNvSpPr/>
          <p:nvPr/>
        </p:nvSpPr>
        <p:spPr>
          <a:xfrm>
            <a:off x="6172200" y="3572272"/>
            <a:ext cx="5207000" cy="889000"/>
          </a:xfrm>
          <a:prstGeom prst="roundRect">
            <a:avLst>
              <a:gd name="adj" fmla="val 11429"/>
            </a:avLst>
          </a:prstGeom>
          <a:solidFill>
            <a:srgbClr val="FFFFFC"/>
          </a:solidFill>
          <a:ln/>
        </p:spPr>
        <p:txBody>
          <a:bodyPr wrap="square" lIns="173442" tIns="148042" rIns="29424" bIns="122642" rtlCol="0" anchor="t">
            <a:normAutofit/>
          </a:bodyPr>
          <a:lstStyle/>
          <a:p>
            <a:pPr algn="l" indent="0" marL="0">
              <a:lnSpc>
                <a:spcPts val="2100"/>
              </a:lnSpc>
              <a:buNone/>
            </a:pPr>
            <a:r>
              <a:rPr lang="en-US" sz="1500" b="1" dirty="0">
                <a:solidFill>
                  <a:srgbClr val="3A4A42"/>
                </a:solidFill>
                <a:latin typeface="DM Sans" pitchFamily="34" charset="0"/>
                <a:ea typeface="DM Sans" pitchFamily="34" charset="-122"/>
                <a:cs typeface="DM Sans" pitchFamily="34" charset="-120"/>
              </a:rPr>
              <a:t>4.</a:t>
            </a:r>
            <a:r>
              <a:rPr lang="en-US" sz="1500" dirty="0">
                <a:solidFill>
                  <a:srgbClr val="3A4A42"/>
                </a:solidFill>
                <a:latin typeface="DM Sans" pitchFamily="34" charset="0"/>
                <a:ea typeface="DM Sans" pitchFamily="34" charset="-122"/>
                <a:cs typeface="DM Sans" pitchFamily="34" charset="-120"/>
              </a:rPr>
              <a:t> Hvordan dokumenterer vi, at løsningen opfylder kravene?</a:t>
            </a:r>
            <a:endParaRPr lang="en-US" sz="1500" dirty="0"/>
          </a:p>
        </p:txBody>
      </p:sp>
      <p:sp>
        <p:nvSpPr>
          <p:cNvPr id="8" name="Text 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A71"/>
                </a:solidFill>
                <a:latin typeface="DM Sans" pitchFamily="34" charset="0"/>
                <a:ea typeface="DM Sans" pitchFamily="34" charset="-122"/>
                <a:cs typeface="DM Sans" pitchFamily="34" charset="-120"/>
              </a:rPr>
              <a:t>Kløverly · SEP1 reeksamen</a:t>
            </a:r>
            <a:endParaRPr lang="en-US" sz="1200" dirty="0"/>
          </a:p>
        </p:txBody>
      </p:sp>
      <p:sp>
        <p:nvSpPr>
          <p:cNvPr id="9" name="Text 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3E8E5A"/>
                </a:solidFill>
                <a:latin typeface="DM Sans" pitchFamily="34" charset="0"/>
                <a:ea typeface="DM Sans" pitchFamily="34" charset="-122"/>
                <a:cs typeface="DM Sans" pitchFamily="34" charset="-120"/>
              </a:rPr>
              <a:t>Mehmet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3E8E5A"/>
                </a:solidFill>
                <a:latin typeface="DM Sans" pitchFamily="34" charset="0"/>
                <a:ea typeface="DM Sans" pitchFamily="34" charset="-122"/>
                <a:cs typeface="DM Sans" pitchFamily="34" charset="-120"/>
              </a:rPr>
              <a:t>METODE</a:t>
            </a:r>
            <a:endParaRPr lang="en-US" sz="1300" dirty="0"/>
          </a:p>
        </p:txBody>
      </p:sp>
      <p:sp>
        <p:nvSpPr>
          <p:cNvPr id="3" name="Text 1"/>
          <p:cNvSpPr/>
          <p:nvPr>
            <p:ph type="title"/>
          </p:nvPr>
        </p:nvSpPr>
        <p:spPr>
          <a:xfrm>
            <a:off x="812800" y="112008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B3D2F"/>
                </a:solidFill>
                <a:latin typeface="Domine" pitchFamily="18" charset="0"/>
                <a:ea typeface="Domine" pitchFamily="18" charset="-122"/>
                <a:cs typeface="Domine" pitchFamily="18" charset="-120"/>
              </a:rPr>
              <a:t>Vandfaldsmodellen på én uge</a:t>
            </a:r>
            <a:endParaRPr lang="en-US" sz="3600" dirty="0"/>
          </a:p>
        </p:txBody>
      </p:sp>
      <p:sp>
        <p:nvSpPr>
          <p:cNvPr id="4" name="Shape 2"/>
          <p:cNvSpPr/>
          <p:nvPr/>
        </p:nvSpPr>
        <p:spPr>
          <a:xfrm>
            <a:off x="815975" y="1953816"/>
            <a:ext cx="2007791" cy="1733252"/>
          </a:xfrm>
          <a:prstGeom prst="roundRect">
            <a:avLst>
              <a:gd name="adj" fmla="val 5679"/>
            </a:avLst>
          </a:prstGeom>
          <a:solidFill>
            <a:srgbClr val="FFFFFC"/>
          </a:solidFill>
          <a:ln w="6350">
            <a:solidFill>
              <a:srgbClr val="D8E2DA"/>
            </a:solidFill>
            <a:prstDash val="solid"/>
          </a:ln>
        </p:spPr>
      </p:sp>
      <p:sp>
        <p:nvSpPr>
          <p:cNvPr id="5" name="Text 3"/>
          <p:cNvSpPr/>
          <p:nvPr/>
        </p:nvSpPr>
        <p:spPr>
          <a:xfrm>
            <a:off x="1022350" y="2160191"/>
            <a:ext cx="1645841"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8E5A"/>
                </a:solidFill>
                <a:latin typeface="DM Sans" pitchFamily="34" charset="0"/>
                <a:ea typeface="DM Sans" pitchFamily="34" charset="-122"/>
                <a:cs typeface="DM Sans" pitchFamily="34" charset="-120"/>
              </a:rPr>
              <a:t>Mandag</a:t>
            </a:r>
            <a:endParaRPr lang="en-US" sz="1300" dirty="0"/>
          </a:p>
        </p:txBody>
      </p:sp>
      <p:sp>
        <p:nvSpPr>
          <p:cNvPr id="6" name="Text 4"/>
          <p:cNvSpPr/>
          <p:nvPr/>
        </p:nvSpPr>
        <p:spPr>
          <a:xfrm>
            <a:off x="1022350" y="2467471"/>
            <a:ext cx="164584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3D2F"/>
                </a:solidFill>
                <a:latin typeface="DM Sans" pitchFamily="34" charset="0"/>
                <a:ea typeface="DM Sans" pitchFamily="34" charset="-122"/>
                <a:cs typeface="DM Sans" pitchFamily="34" charset="-120"/>
              </a:rPr>
              <a:t>Analyse</a:t>
            </a:r>
            <a:endParaRPr lang="en-US" sz="1600" dirty="0"/>
          </a:p>
        </p:txBody>
      </p:sp>
      <p:sp>
        <p:nvSpPr>
          <p:cNvPr id="7" name="Text 5"/>
          <p:cNvSpPr/>
          <p:nvPr/>
        </p:nvSpPr>
        <p:spPr>
          <a:xfrm>
            <a:off x="1022350" y="2787452"/>
            <a:ext cx="1645841"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A42"/>
                </a:solidFill>
                <a:latin typeface="DM Sans" pitchFamily="34" charset="0"/>
                <a:ea typeface="DM Sans" pitchFamily="34" charset="-122"/>
                <a:cs typeface="DM Sans" pitchFamily="34" charset="-120"/>
              </a:rPr>
              <a:t>Brainstorm, krav, domænemodel, første modelklasser</a:t>
            </a:r>
            <a:endParaRPr lang="en-US" sz="1300" dirty="0"/>
          </a:p>
        </p:txBody>
      </p:sp>
      <p:sp>
        <p:nvSpPr>
          <p:cNvPr id="8" name="Shape 6"/>
          <p:cNvSpPr/>
          <p:nvPr/>
        </p:nvSpPr>
        <p:spPr>
          <a:xfrm>
            <a:off x="2957116" y="1953816"/>
            <a:ext cx="2007890" cy="1733252"/>
          </a:xfrm>
          <a:prstGeom prst="roundRect">
            <a:avLst>
              <a:gd name="adj" fmla="val 5679"/>
            </a:avLst>
          </a:prstGeom>
          <a:solidFill>
            <a:srgbClr val="FFFFFC"/>
          </a:solidFill>
          <a:ln w="6350">
            <a:solidFill>
              <a:srgbClr val="D8E2DA"/>
            </a:solidFill>
            <a:prstDash val="solid"/>
          </a:ln>
        </p:spPr>
      </p:sp>
      <p:sp>
        <p:nvSpPr>
          <p:cNvPr id="9" name="Text 7"/>
          <p:cNvSpPr/>
          <p:nvPr/>
        </p:nvSpPr>
        <p:spPr>
          <a:xfrm>
            <a:off x="3163491" y="2160191"/>
            <a:ext cx="16459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8E5A"/>
                </a:solidFill>
                <a:latin typeface="DM Sans" pitchFamily="34" charset="0"/>
                <a:ea typeface="DM Sans" pitchFamily="34" charset="-122"/>
                <a:cs typeface="DM Sans" pitchFamily="34" charset="-120"/>
              </a:rPr>
              <a:t>Tirsdag</a:t>
            </a:r>
            <a:endParaRPr lang="en-US" sz="1300" dirty="0"/>
          </a:p>
        </p:txBody>
      </p:sp>
      <p:sp>
        <p:nvSpPr>
          <p:cNvPr id="10" name="Text 8"/>
          <p:cNvSpPr/>
          <p:nvPr/>
        </p:nvSpPr>
        <p:spPr>
          <a:xfrm>
            <a:off x="3163491" y="2467471"/>
            <a:ext cx="16459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3D2F"/>
                </a:solidFill>
                <a:latin typeface="DM Sans" pitchFamily="34" charset="0"/>
                <a:ea typeface="DM Sans" pitchFamily="34" charset="-122"/>
                <a:cs typeface="DM Sans" pitchFamily="34" charset="-120"/>
              </a:rPr>
              <a:t>Kode</a:t>
            </a:r>
            <a:endParaRPr lang="en-US" sz="1600" dirty="0"/>
          </a:p>
        </p:txBody>
      </p:sp>
      <p:sp>
        <p:nvSpPr>
          <p:cNvPr id="11" name="Text 9"/>
          <p:cNvSpPr/>
          <p:nvPr/>
        </p:nvSpPr>
        <p:spPr>
          <a:xfrm>
            <a:off x="3163491" y="2787452"/>
            <a:ext cx="164594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A42"/>
                </a:solidFill>
                <a:latin typeface="DM Sans" pitchFamily="34" charset="0"/>
                <a:ea typeface="DM Sans" pitchFamily="34" charset="-122"/>
                <a:cs typeface="DM Sans" pitchFamily="34" charset="-120"/>
              </a:rPr>
              <a:t>JavaFX-brugerflade, persistens, hjemmeside</a:t>
            </a:r>
            <a:endParaRPr lang="en-US" sz="1300" dirty="0"/>
          </a:p>
        </p:txBody>
      </p:sp>
      <p:sp>
        <p:nvSpPr>
          <p:cNvPr id="12" name="Shape 10"/>
          <p:cNvSpPr/>
          <p:nvPr/>
        </p:nvSpPr>
        <p:spPr>
          <a:xfrm>
            <a:off x="5098355" y="1953816"/>
            <a:ext cx="2007890" cy="1733252"/>
          </a:xfrm>
          <a:prstGeom prst="roundRect">
            <a:avLst>
              <a:gd name="adj" fmla="val 5679"/>
            </a:avLst>
          </a:prstGeom>
          <a:solidFill>
            <a:srgbClr val="FFFFFC"/>
          </a:solidFill>
          <a:ln w="6350">
            <a:solidFill>
              <a:srgbClr val="D8E2DA"/>
            </a:solidFill>
            <a:prstDash val="solid"/>
          </a:ln>
        </p:spPr>
      </p:sp>
      <p:sp>
        <p:nvSpPr>
          <p:cNvPr id="13" name="Text 11"/>
          <p:cNvSpPr/>
          <p:nvPr/>
        </p:nvSpPr>
        <p:spPr>
          <a:xfrm>
            <a:off x="5304730" y="2160191"/>
            <a:ext cx="16459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8E5A"/>
                </a:solidFill>
                <a:latin typeface="DM Sans" pitchFamily="34" charset="0"/>
                <a:ea typeface="DM Sans" pitchFamily="34" charset="-122"/>
                <a:cs typeface="DM Sans" pitchFamily="34" charset="-120"/>
              </a:rPr>
              <a:t>Onsdag</a:t>
            </a:r>
            <a:endParaRPr lang="en-US" sz="1300" dirty="0"/>
          </a:p>
        </p:txBody>
      </p:sp>
      <p:sp>
        <p:nvSpPr>
          <p:cNvPr id="14" name="Text 12"/>
          <p:cNvSpPr/>
          <p:nvPr/>
        </p:nvSpPr>
        <p:spPr>
          <a:xfrm>
            <a:off x="5304730" y="2467471"/>
            <a:ext cx="16459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3D2F"/>
                </a:solidFill>
                <a:latin typeface="DM Sans" pitchFamily="34" charset="0"/>
                <a:ea typeface="DM Sans" pitchFamily="34" charset="-122"/>
                <a:cs typeface="DM Sans" pitchFamily="34" charset="-120"/>
              </a:rPr>
              <a:t>Design</a:t>
            </a:r>
            <a:endParaRPr lang="en-US" sz="1600" dirty="0"/>
          </a:p>
        </p:txBody>
      </p:sp>
      <p:sp>
        <p:nvSpPr>
          <p:cNvPr id="15" name="Text 13"/>
          <p:cNvSpPr/>
          <p:nvPr/>
        </p:nvSpPr>
        <p:spPr>
          <a:xfrm>
            <a:off x="5304730" y="2787452"/>
            <a:ext cx="164594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A42"/>
                </a:solidFill>
                <a:latin typeface="DM Sans" pitchFamily="34" charset="0"/>
                <a:ea typeface="DM Sans" pitchFamily="34" charset="-122"/>
                <a:cs typeface="DM Sans" pitchFamily="34" charset="-120"/>
              </a:rPr>
              <a:t>Use cases, aktivitets- og sekvens­diagrammer</a:t>
            </a:r>
            <a:endParaRPr lang="en-US" sz="1300" dirty="0"/>
          </a:p>
        </p:txBody>
      </p:sp>
      <p:sp>
        <p:nvSpPr>
          <p:cNvPr id="16" name="Shape 14"/>
          <p:cNvSpPr/>
          <p:nvPr/>
        </p:nvSpPr>
        <p:spPr>
          <a:xfrm>
            <a:off x="7239595" y="1953816"/>
            <a:ext cx="2007890" cy="1733252"/>
          </a:xfrm>
          <a:prstGeom prst="roundRect">
            <a:avLst>
              <a:gd name="adj" fmla="val 5679"/>
            </a:avLst>
          </a:prstGeom>
          <a:solidFill>
            <a:srgbClr val="FFFFFC"/>
          </a:solidFill>
          <a:ln w="6350">
            <a:solidFill>
              <a:srgbClr val="D8E2DA"/>
            </a:solidFill>
            <a:prstDash val="solid"/>
          </a:ln>
        </p:spPr>
      </p:sp>
      <p:sp>
        <p:nvSpPr>
          <p:cNvPr id="17" name="Text 15"/>
          <p:cNvSpPr/>
          <p:nvPr/>
        </p:nvSpPr>
        <p:spPr>
          <a:xfrm>
            <a:off x="7445970" y="2160191"/>
            <a:ext cx="16459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E8E5A"/>
                </a:solidFill>
                <a:latin typeface="DM Sans" pitchFamily="34" charset="0"/>
                <a:ea typeface="DM Sans" pitchFamily="34" charset="-122"/>
                <a:cs typeface="DM Sans" pitchFamily="34" charset="-120"/>
              </a:rPr>
              <a:t>Torsdag</a:t>
            </a:r>
            <a:endParaRPr lang="en-US" sz="1300" dirty="0"/>
          </a:p>
        </p:txBody>
      </p:sp>
      <p:sp>
        <p:nvSpPr>
          <p:cNvPr id="18" name="Text 16"/>
          <p:cNvSpPr/>
          <p:nvPr/>
        </p:nvSpPr>
        <p:spPr>
          <a:xfrm>
            <a:off x="7445970" y="2467471"/>
            <a:ext cx="16459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3D2F"/>
                </a:solidFill>
                <a:latin typeface="DM Sans" pitchFamily="34" charset="0"/>
                <a:ea typeface="DM Sans" pitchFamily="34" charset="-122"/>
                <a:cs typeface="DM Sans" pitchFamily="34" charset="-120"/>
              </a:rPr>
              <a:t>Test</a:t>
            </a:r>
            <a:endParaRPr lang="en-US" sz="1600" dirty="0"/>
          </a:p>
        </p:txBody>
      </p:sp>
      <p:sp>
        <p:nvSpPr>
          <p:cNvPr id="19" name="Text 17"/>
          <p:cNvSpPr/>
          <p:nvPr/>
        </p:nvSpPr>
        <p:spPr>
          <a:xfrm>
            <a:off x="7445970" y="2787452"/>
            <a:ext cx="1645940"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A42"/>
                </a:solidFill>
                <a:latin typeface="DM Sans" pitchFamily="34" charset="0"/>
                <a:ea typeface="DM Sans" pitchFamily="34" charset="-122"/>
                <a:cs typeface="DM Sans" pitchFamily="34" charset="-120"/>
              </a:rPr>
              <a:t>Unittest, black box, rettelser af diagrammer</a:t>
            </a:r>
            <a:endParaRPr lang="en-US" sz="1300" dirty="0"/>
          </a:p>
        </p:txBody>
      </p:sp>
      <p:sp>
        <p:nvSpPr>
          <p:cNvPr id="20" name="Shape 18"/>
          <p:cNvSpPr/>
          <p:nvPr/>
        </p:nvSpPr>
        <p:spPr>
          <a:xfrm>
            <a:off x="9377660" y="1950641"/>
            <a:ext cx="2001540" cy="1739602"/>
          </a:xfrm>
          <a:prstGeom prst="roundRect">
            <a:avLst>
              <a:gd name="adj" fmla="val 5840"/>
            </a:avLst>
          </a:prstGeom>
          <a:solidFill>
            <a:srgbClr val="1B3D2F"/>
          </a:solidFill>
          <a:ln/>
        </p:spPr>
      </p:sp>
      <p:sp>
        <p:nvSpPr>
          <p:cNvPr id="21" name="Text 19"/>
          <p:cNvSpPr/>
          <p:nvPr/>
        </p:nvSpPr>
        <p:spPr>
          <a:xfrm>
            <a:off x="9580860" y="2153841"/>
            <a:ext cx="1645940" cy="2564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CC9A8"/>
                </a:solidFill>
                <a:latin typeface="DM Sans" pitchFamily="34" charset="0"/>
                <a:ea typeface="DM Sans" pitchFamily="34" charset="-122"/>
                <a:cs typeface="DM Sans" pitchFamily="34" charset="-120"/>
              </a:rPr>
              <a:t>Fredag</a:t>
            </a:r>
            <a:endParaRPr lang="en-US" sz="1300" dirty="0"/>
          </a:p>
        </p:txBody>
      </p:sp>
      <p:sp>
        <p:nvSpPr>
          <p:cNvPr id="22" name="Text 20"/>
          <p:cNvSpPr/>
          <p:nvPr/>
        </p:nvSpPr>
        <p:spPr>
          <a:xfrm>
            <a:off x="9580860" y="2461121"/>
            <a:ext cx="164594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6F4EE"/>
                </a:solidFill>
                <a:latin typeface="DM Sans" pitchFamily="34" charset="0"/>
                <a:ea typeface="DM Sans" pitchFamily="34" charset="-122"/>
                <a:cs typeface="DM Sans" pitchFamily="34" charset="-120"/>
              </a:rPr>
              <a:t>Aflevering</a:t>
            </a:r>
            <a:endParaRPr lang="en-US" sz="1600" dirty="0"/>
          </a:p>
        </p:txBody>
      </p:sp>
      <p:sp>
        <p:nvSpPr>
          <p:cNvPr id="23" name="Text 21"/>
          <p:cNvSpPr/>
          <p:nvPr/>
        </p:nvSpPr>
        <p:spPr>
          <a:xfrm>
            <a:off x="9580860" y="2781102"/>
            <a:ext cx="164594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CE8DF"/>
                </a:solidFill>
                <a:latin typeface="DM Sans" pitchFamily="34" charset="0"/>
                <a:ea typeface="DM Sans" pitchFamily="34" charset="-122"/>
                <a:cs typeface="DM Sans" pitchFamily="34" charset="-120"/>
              </a:rPr>
              <a:t>Rapporter, bilag og video</a:t>
            </a:r>
            <a:endParaRPr lang="en-US" sz="1300" dirty="0"/>
          </a:p>
        </p:txBody>
      </p:sp>
      <p:sp>
        <p:nvSpPr>
          <p:cNvPr id="24" name="Text 22"/>
          <p:cNvSpPr/>
          <p:nvPr/>
        </p:nvSpPr>
        <p:spPr>
          <a:xfrm>
            <a:off x="812800" y="3995043"/>
            <a:ext cx="10566400" cy="944761"/>
          </a:xfrm>
          <a:prstGeom prst="roundRect">
            <a:avLst>
              <a:gd name="adj" fmla="val 10754"/>
            </a:avLst>
          </a:prstGeom>
          <a:solidFill>
            <a:srgbClr val="E4EDE5"/>
          </a:solidFill>
          <a:ln/>
        </p:spPr>
        <p:txBody>
          <a:bodyPr wrap="square" lIns="224242" tIns="148042" rIns="0" bIns="122642" rtlCol="0" anchor="t">
            <a:normAutofit/>
          </a:bodyPr>
          <a:lstStyle/>
          <a:p>
            <a:pPr algn="l" indent="0" marL="0">
              <a:lnSpc>
                <a:spcPts val="2320"/>
              </a:lnSpc>
              <a:buNone/>
            </a:pPr>
            <a:r>
              <a:rPr lang="en-US" sz="1600" dirty="0">
                <a:solidFill>
                  <a:srgbClr val="1B3D2F"/>
                </a:solidFill>
                <a:latin typeface="DM Sans" pitchFamily="34" charset="0"/>
                <a:ea typeface="DM Sans" pitchFamily="34" charset="-122"/>
                <a:cs typeface="DM Sans" pitchFamily="34" charset="-120"/>
              </a:rPr>
              <a:t>Små tilbageløb var nødvendige: FR20 </a:t>
            </a:r>
            <a:r>
              <a:rPr lang="en-US" sz="1600" i="1" dirty="0">
                <a:solidFill>
                  <a:srgbClr val="1B3D2F"/>
                </a:solidFill>
                <a:latin typeface="DM Sans" pitchFamily="34" charset="0"/>
                <a:ea typeface="DM Sans" pitchFamily="34" charset="-122"/>
                <a:cs typeface="DM Sans" pitchFamily="34" charset="-120"/>
              </a:rPr>
              <a:t>Afslut opgave</a:t>
            </a:r>
            <a:r>
              <a:rPr lang="en-US" sz="1600" dirty="0">
                <a:solidFill>
                  <a:srgbClr val="1B3D2F"/>
                </a:solidFill>
                <a:latin typeface="DM Sans" pitchFamily="34" charset="0"/>
                <a:ea typeface="DM Sans" pitchFamily="34" charset="-122"/>
                <a:cs typeface="DM Sans" pitchFamily="34" charset="-120"/>
              </a:rPr>
              <a:t> kom til under designet, og diagrammerne blev rettet efter koden.</a:t>
            </a:r>
            <a:endParaRPr lang="en-US" sz="1600" dirty="0"/>
          </a:p>
        </p:txBody>
      </p:sp>
      <p:sp>
        <p:nvSpPr>
          <p:cNvPr id="25" name="Text 23"/>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A71"/>
                </a:solidFill>
                <a:latin typeface="DM Sans" pitchFamily="34" charset="0"/>
                <a:ea typeface="DM Sans" pitchFamily="34" charset="-122"/>
                <a:cs typeface="DM Sans" pitchFamily="34" charset="-120"/>
              </a:rPr>
              <a:t>Kløverly · SEP1 reeksamen</a:t>
            </a:r>
            <a:endParaRPr lang="en-US" sz="1200" dirty="0"/>
          </a:p>
        </p:txBody>
      </p:sp>
      <p:sp>
        <p:nvSpPr>
          <p:cNvPr id="26" name="Text 24"/>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3E8E5A"/>
                </a:solidFill>
                <a:latin typeface="DM Sans" pitchFamily="34" charset="0"/>
                <a:ea typeface="DM Sans" pitchFamily="34" charset="-122"/>
                <a:cs typeface="DM Sans" pitchFamily="34" charset="-120"/>
              </a:rPr>
              <a:t>Mehmet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3E8E5A"/>
                </a:solidFill>
                <a:latin typeface="DM Sans" pitchFamily="34" charset="0"/>
                <a:ea typeface="DM Sans" pitchFamily="34" charset="-122"/>
                <a:cs typeface="DM Sans" pitchFamily="34" charset="-120"/>
              </a:rPr>
              <a:t>KRAV OG SPORBARHED</a:t>
            </a:r>
            <a:endParaRPr lang="en-US" sz="1300" dirty="0"/>
          </a:p>
        </p:txBody>
      </p:sp>
      <p:sp>
        <p:nvSpPr>
          <p:cNvPr id="3" name="Text 1"/>
          <p:cNvSpPr/>
          <p:nvPr>
            <p:ph type="title"/>
          </p:nvPr>
        </p:nvSpPr>
        <p:spPr>
          <a:xfrm>
            <a:off x="812800" y="112008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B3D2F"/>
                </a:solidFill>
                <a:latin typeface="Domine" pitchFamily="18" charset="0"/>
                <a:ea typeface="Domine" pitchFamily="18" charset="-122"/>
                <a:cs typeface="Domine" pitchFamily="18" charset="-120"/>
              </a:rPr>
              <a:t>Fra Bobs ord til en bestået test</a:t>
            </a:r>
            <a:endParaRPr lang="en-US" sz="3600" dirty="0"/>
          </a:p>
        </p:txBody>
      </p:sp>
      <p:sp>
        <p:nvSpPr>
          <p:cNvPr id="4" name="Shape 2"/>
          <p:cNvSpPr/>
          <p:nvPr/>
        </p:nvSpPr>
        <p:spPr>
          <a:xfrm>
            <a:off x="815975" y="1975346"/>
            <a:ext cx="1702991" cy="1517452"/>
          </a:xfrm>
          <a:prstGeom prst="roundRect">
            <a:avLst>
              <a:gd name="adj" fmla="val 6486"/>
            </a:avLst>
          </a:prstGeom>
          <a:solidFill>
            <a:srgbClr val="FFFFFC"/>
          </a:solidFill>
          <a:ln w="6350">
            <a:solidFill>
              <a:srgbClr val="D8E2DA"/>
            </a:solidFill>
            <a:prstDash val="solid"/>
          </a:ln>
        </p:spPr>
      </p:sp>
      <p:sp>
        <p:nvSpPr>
          <p:cNvPr id="5" name="Text 3"/>
          <p:cNvSpPr/>
          <p:nvPr/>
        </p:nvSpPr>
        <p:spPr>
          <a:xfrm>
            <a:off x="996950" y="2156321"/>
            <a:ext cx="139184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8E5A"/>
                </a:solidFill>
                <a:latin typeface="DM Sans" pitchFamily="34" charset="0"/>
                <a:ea typeface="DM Sans" pitchFamily="34" charset="-122"/>
                <a:cs typeface="DM Sans" pitchFamily="34" charset="-120"/>
              </a:rPr>
              <a:t>Interview</a:t>
            </a:r>
            <a:endParaRPr lang="en-US" sz="1200" dirty="0"/>
          </a:p>
        </p:txBody>
      </p:sp>
      <p:sp>
        <p:nvSpPr>
          <p:cNvPr id="6" name="Text 4"/>
          <p:cNvSpPr/>
          <p:nvPr/>
        </p:nvSpPr>
        <p:spPr>
          <a:xfrm>
            <a:off x="996950" y="2420441"/>
            <a:ext cx="1391841" cy="916781"/>
          </a:xfrm>
          <a:prstGeom prst="rect">
            <a:avLst/>
          </a:prstGeom>
          <a:noFill/>
          <a:ln/>
        </p:spPr>
        <p:txBody>
          <a:bodyPr wrap="square" lIns="0" tIns="0" rIns="0" bIns="0" rtlCol="0" anchor="t">
            <a:normAutofit/>
          </a:bodyPr>
          <a:lstStyle/>
          <a:p>
            <a:pPr algn="l" indent="0" marL="0">
              <a:lnSpc>
                <a:spcPts val="1755"/>
              </a:lnSpc>
              <a:buNone/>
            </a:pPr>
            <a:r>
              <a:rPr lang="en-US" sz="1300" i="1" dirty="0">
                <a:solidFill>
                  <a:srgbClr val="3A4A42"/>
                </a:solidFill>
                <a:latin typeface="DM Sans" pitchFamily="34" charset="0"/>
                <a:ea typeface="DM Sans" pitchFamily="34" charset="-122"/>
                <a:cs typeface="DM Sans" pitchFamily="34" charset="-120"/>
              </a:rPr>
              <a:t>„de personlige points skal kunne bruges ved bytteopgaver“</a:t>
            </a:r>
            <a:endParaRPr lang="en-US" sz="1300" dirty="0"/>
          </a:p>
        </p:txBody>
      </p:sp>
      <p:pic>
        <p:nvPicPr>
          <p:cNvPr id="7" name="Image 0" descr="arrow-right">    </p:cNvPr>
          <p:cNvPicPr>
            <a:picLocks noChangeAspect="1"/>
          </p:cNvPicPr>
          <p:nvPr/>
        </p:nvPicPr>
        <p:blipFill>
          <a:blip r:embed="rId1"/>
          <a:srcRect l="0" r="0" t="0" b="0"/>
          <a:stretch/>
        </p:blipFill>
        <p:spPr>
          <a:xfrm>
            <a:off x="2623741" y="2657872"/>
            <a:ext cx="304800" cy="152400"/>
          </a:xfrm>
          <a:prstGeom prst="rect">
            <a:avLst/>
          </a:prstGeom>
        </p:spPr>
      </p:pic>
      <p:sp>
        <p:nvSpPr>
          <p:cNvPr id="8" name="Shape 5"/>
          <p:cNvSpPr/>
          <p:nvPr/>
        </p:nvSpPr>
        <p:spPr>
          <a:xfrm>
            <a:off x="3033316" y="1953816"/>
            <a:ext cx="1703090" cy="1560612"/>
          </a:xfrm>
          <a:prstGeom prst="roundRect">
            <a:avLst>
              <a:gd name="adj" fmla="val 6307"/>
            </a:avLst>
          </a:prstGeom>
          <a:solidFill>
            <a:srgbClr val="FFFFFC"/>
          </a:solidFill>
          <a:ln w="6350">
            <a:solidFill>
              <a:srgbClr val="D8E2DA"/>
            </a:solidFill>
            <a:prstDash val="solid"/>
          </a:ln>
        </p:spPr>
      </p:sp>
      <p:sp>
        <p:nvSpPr>
          <p:cNvPr id="9" name="Text 6"/>
          <p:cNvSpPr/>
          <p:nvPr/>
        </p:nvSpPr>
        <p:spPr>
          <a:xfrm>
            <a:off x="3214291" y="2134791"/>
            <a:ext cx="13919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8E5A"/>
                </a:solidFill>
                <a:latin typeface="DM Sans" pitchFamily="34" charset="0"/>
                <a:ea typeface="DM Sans" pitchFamily="34" charset="-122"/>
                <a:cs typeface="DM Sans" pitchFamily="34" charset="-120"/>
              </a:rPr>
              <a:t>Krav</a:t>
            </a:r>
            <a:endParaRPr lang="en-US" sz="1200" dirty="0"/>
          </a:p>
        </p:txBody>
      </p:sp>
      <p:sp>
        <p:nvSpPr>
          <p:cNvPr id="10" name="Text 7"/>
          <p:cNvSpPr/>
          <p:nvPr/>
        </p:nvSpPr>
        <p:spPr>
          <a:xfrm>
            <a:off x="3214291" y="2398911"/>
            <a:ext cx="13919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3D2F"/>
                </a:solidFill>
                <a:latin typeface="DM Sans" pitchFamily="34" charset="0"/>
                <a:ea typeface="DM Sans" pitchFamily="34" charset="-122"/>
                <a:cs typeface="DM Sans" pitchFamily="34" charset="-120"/>
              </a:rPr>
              <a:t>FR16</a:t>
            </a:r>
            <a:endParaRPr lang="en-US" sz="1500" dirty="0"/>
          </a:p>
        </p:txBody>
      </p:sp>
      <p:sp>
        <p:nvSpPr>
          <p:cNvPr id="11" name="Text 8"/>
          <p:cNvSpPr/>
          <p:nvPr/>
        </p:nvSpPr>
        <p:spPr>
          <a:xfrm>
            <a:off x="3214291" y="2716411"/>
            <a:ext cx="139194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42"/>
                </a:solidFill>
                <a:latin typeface="DM Sans" pitchFamily="34" charset="0"/>
                <a:ea typeface="DM Sans" pitchFamily="34" charset="-122"/>
                <a:cs typeface="DM Sans" pitchFamily="34" charset="-120"/>
              </a:rPr>
              <a:t>Bytteopgaver betales med personlige point</a:t>
            </a:r>
            <a:endParaRPr lang="en-US" sz="1200" dirty="0"/>
          </a:p>
        </p:txBody>
      </p:sp>
      <p:pic>
        <p:nvPicPr>
          <p:cNvPr id="12" name="Image 1" descr="arrow-right">    </p:cNvPr>
          <p:cNvPicPr>
            <a:picLocks noChangeAspect="1"/>
          </p:cNvPicPr>
          <p:nvPr/>
        </p:nvPicPr>
        <p:blipFill>
          <a:blip r:embed="rId2"/>
          <a:srcRect l="0" r="0" t="0" b="0"/>
          <a:stretch/>
        </p:blipFill>
        <p:spPr>
          <a:xfrm>
            <a:off x="4841180" y="2657872"/>
            <a:ext cx="304800" cy="152400"/>
          </a:xfrm>
          <a:prstGeom prst="rect">
            <a:avLst/>
          </a:prstGeom>
        </p:spPr>
      </p:pic>
      <p:sp>
        <p:nvSpPr>
          <p:cNvPr id="13" name="Shape 9"/>
          <p:cNvSpPr/>
          <p:nvPr/>
        </p:nvSpPr>
        <p:spPr>
          <a:xfrm>
            <a:off x="5250755" y="2159496"/>
            <a:ext cx="1703090" cy="1149251"/>
          </a:xfrm>
          <a:prstGeom prst="roundRect">
            <a:avLst>
              <a:gd name="adj" fmla="val 8564"/>
            </a:avLst>
          </a:prstGeom>
          <a:solidFill>
            <a:srgbClr val="FFFFFC"/>
          </a:solidFill>
          <a:ln w="6350">
            <a:solidFill>
              <a:srgbClr val="D8E2DA"/>
            </a:solidFill>
            <a:prstDash val="solid"/>
          </a:ln>
        </p:spPr>
      </p:sp>
      <p:sp>
        <p:nvSpPr>
          <p:cNvPr id="14" name="Text 10"/>
          <p:cNvSpPr/>
          <p:nvPr/>
        </p:nvSpPr>
        <p:spPr>
          <a:xfrm>
            <a:off x="5431730" y="2340471"/>
            <a:ext cx="13919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8E5A"/>
                </a:solidFill>
                <a:latin typeface="DM Sans" pitchFamily="34" charset="0"/>
                <a:ea typeface="DM Sans" pitchFamily="34" charset="-122"/>
                <a:cs typeface="DM Sans" pitchFamily="34" charset="-120"/>
              </a:rPr>
              <a:t>Use case</a:t>
            </a:r>
            <a:endParaRPr lang="en-US" sz="1200" dirty="0"/>
          </a:p>
        </p:txBody>
      </p:sp>
      <p:sp>
        <p:nvSpPr>
          <p:cNvPr id="15" name="Text 11"/>
          <p:cNvSpPr/>
          <p:nvPr/>
        </p:nvSpPr>
        <p:spPr>
          <a:xfrm>
            <a:off x="5431730" y="2604591"/>
            <a:ext cx="13919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B3D2F"/>
                </a:solidFill>
                <a:latin typeface="DM Sans" pitchFamily="34" charset="0"/>
                <a:ea typeface="DM Sans" pitchFamily="34" charset="-122"/>
                <a:cs typeface="DM Sans" pitchFamily="34" charset="-120"/>
              </a:rPr>
              <a:t>UC14</a:t>
            </a:r>
            <a:endParaRPr lang="en-US" sz="1500" dirty="0"/>
          </a:p>
        </p:txBody>
      </p:sp>
      <p:sp>
        <p:nvSpPr>
          <p:cNvPr id="16" name="Text 12"/>
          <p:cNvSpPr/>
          <p:nvPr/>
        </p:nvSpPr>
        <p:spPr>
          <a:xfrm>
            <a:off x="5431730" y="2922091"/>
            <a:ext cx="151894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42"/>
                </a:solidFill>
                <a:latin typeface="DM Sans" pitchFamily="34" charset="0"/>
                <a:ea typeface="DM Sans" pitchFamily="34" charset="-122"/>
                <a:cs typeface="DM Sans" pitchFamily="34" charset="-120"/>
              </a:rPr>
              <a:t>Opret bytteopgave</a:t>
            </a:r>
            <a:endParaRPr lang="en-US" sz="1200" dirty="0"/>
          </a:p>
        </p:txBody>
      </p:sp>
      <p:pic>
        <p:nvPicPr>
          <p:cNvPr id="17" name="Image 2" descr="arrow-right">    </p:cNvPr>
          <p:cNvPicPr>
            <a:picLocks noChangeAspect="1"/>
          </p:cNvPicPr>
          <p:nvPr/>
        </p:nvPicPr>
        <p:blipFill>
          <a:blip r:embed="rId3"/>
          <a:srcRect l="0" r="0" t="0" b="0"/>
          <a:stretch/>
        </p:blipFill>
        <p:spPr>
          <a:xfrm>
            <a:off x="7058620" y="2657872"/>
            <a:ext cx="304800" cy="152400"/>
          </a:xfrm>
          <a:prstGeom prst="rect">
            <a:avLst/>
          </a:prstGeom>
        </p:spPr>
      </p:pic>
      <p:sp>
        <p:nvSpPr>
          <p:cNvPr id="18" name="Shape 13"/>
          <p:cNvSpPr/>
          <p:nvPr/>
        </p:nvSpPr>
        <p:spPr>
          <a:xfrm>
            <a:off x="7468195" y="2086769"/>
            <a:ext cx="1703090" cy="1294606"/>
          </a:xfrm>
          <a:prstGeom prst="roundRect">
            <a:avLst>
              <a:gd name="adj" fmla="val 7603"/>
            </a:avLst>
          </a:prstGeom>
          <a:solidFill>
            <a:srgbClr val="FFFFFC"/>
          </a:solidFill>
          <a:ln w="6350">
            <a:solidFill>
              <a:srgbClr val="D8E2DA"/>
            </a:solidFill>
            <a:prstDash val="solid"/>
          </a:ln>
        </p:spPr>
      </p:sp>
      <p:sp>
        <p:nvSpPr>
          <p:cNvPr id="19" name="Text 14"/>
          <p:cNvSpPr/>
          <p:nvPr/>
        </p:nvSpPr>
        <p:spPr>
          <a:xfrm>
            <a:off x="7649170" y="2267744"/>
            <a:ext cx="13919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E8E5A"/>
                </a:solidFill>
                <a:latin typeface="DM Sans" pitchFamily="34" charset="0"/>
                <a:ea typeface="DM Sans" pitchFamily="34" charset="-122"/>
                <a:cs typeface="DM Sans" pitchFamily="34" charset="-120"/>
              </a:rPr>
              <a:t>Kode</a:t>
            </a:r>
            <a:endParaRPr lang="en-US" sz="1200" dirty="0"/>
          </a:p>
        </p:txBody>
      </p:sp>
      <p:sp>
        <p:nvSpPr>
          <p:cNvPr id="20" name="Text 15"/>
          <p:cNvSpPr/>
          <p:nvPr/>
        </p:nvSpPr>
        <p:spPr>
          <a:xfrm>
            <a:off x="7649170" y="2531864"/>
            <a:ext cx="139194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3D2F"/>
                </a:solidFill>
                <a:latin typeface="Courier New" pitchFamily="49" charset="0"/>
                <a:ea typeface="Courier New" pitchFamily="49" charset="-122"/>
                <a:cs typeface="Courier New" pitchFamily="49" charset="-120"/>
              </a:rPr>
              <a:t>Beboer.</a:t>
            </a:r>
            <a:endParaRPr lang="en-US" sz="1300" dirty="0"/>
          </a:p>
          <a:p>
            <a:pPr algn="l" indent="0" marL="0">
              <a:lnSpc>
                <a:spcPts val="1755"/>
              </a:lnSpc>
              <a:buNone/>
            </a:pPr>
            <a:r>
              <a:rPr lang="en-US" sz="1300" dirty="0">
                <a:solidFill>
                  <a:srgbClr val="1B3D2F"/>
                </a:solidFill>
                <a:latin typeface="Courier New" pitchFamily="49" charset="0"/>
                <a:ea typeface="Courier New" pitchFamily="49" charset="-122"/>
                <a:cs typeface="Courier New" pitchFamily="49" charset="-120"/>
              </a:rPr>
              <a:t>tilføjOpgave()</a:t>
            </a:r>
            <a:endParaRPr lang="en-US" sz="1300" dirty="0"/>
          </a:p>
        </p:txBody>
      </p:sp>
      <p:pic>
        <p:nvPicPr>
          <p:cNvPr id="21" name="Image 3" descr="arrow-right">    </p:cNvPr>
          <p:cNvPicPr>
            <a:picLocks noChangeAspect="1"/>
          </p:cNvPicPr>
          <p:nvPr/>
        </p:nvPicPr>
        <p:blipFill>
          <a:blip r:embed="rId4"/>
          <a:srcRect l="0" r="0" t="0" b="0"/>
          <a:stretch/>
        </p:blipFill>
        <p:spPr>
          <a:xfrm>
            <a:off x="9276060" y="2657872"/>
            <a:ext cx="304800" cy="152400"/>
          </a:xfrm>
          <a:prstGeom prst="rect">
            <a:avLst/>
          </a:prstGeom>
        </p:spPr>
      </p:pic>
      <p:sp>
        <p:nvSpPr>
          <p:cNvPr id="22" name="Shape 16"/>
          <p:cNvSpPr/>
          <p:nvPr/>
        </p:nvSpPr>
        <p:spPr>
          <a:xfrm>
            <a:off x="9682460" y="2059781"/>
            <a:ext cx="1696740" cy="1348581"/>
          </a:xfrm>
          <a:prstGeom prst="roundRect">
            <a:avLst>
              <a:gd name="adj" fmla="val 7534"/>
            </a:avLst>
          </a:prstGeom>
          <a:solidFill>
            <a:srgbClr val="1B3D2F"/>
          </a:solidFill>
          <a:ln/>
        </p:spPr>
      </p:sp>
      <p:sp>
        <p:nvSpPr>
          <p:cNvPr id="23" name="Text 17"/>
          <p:cNvSpPr/>
          <p:nvPr/>
        </p:nvSpPr>
        <p:spPr>
          <a:xfrm>
            <a:off x="9860260" y="2237581"/>
            <a:ext cx="13919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CC9A8"/>
                </a:solidFill>
                <a:latin typeface="DM Sans" pitchFamily="34" charset="0"/>
                <a:ea typeface="DM Sans" pitchFamily="34" charset="-122"/>
                <a:cs typeface="DM Sans" pitchFamily="34" charset="-120"/>
              </a:rPr>
              <a:t>Test</a:t>
            </a:r>
            <a:endParaRPr lang="en-US" sz="1200" dirty="0"/>
          </a:p>
        </p:txBody>
      </p:sp>
      <p:sp>
        <p:nvSpPr>
          <p:cNvPr id="24" name="Text 18"/>
          <p:cNvSpPr/>
          <p:nvPr/>
        </p:nvSpPr>
        <p:spPr>
          <a:xfrm>
            <a:off x="9860260" y="2501702"/>
            <a:ext cx="139194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4EE"/>
                </a:solidFill>
                <a:latin typeface="DM Sans" pitchFamily="34" charset="0"/>
                <a:ea typeface="DM Sans" pitchFamily="34" charset="-122"/>
                <a:cs typeface="DM Sans" pitchFamily="34" charset="-120"/>
              </a:rPr>
              <a:t>T04 · T05</a:t>
            </a:r>
            <a:endParaRPr lang="en-US" sz="1500" dirty="0"/>
          </a:p>
        </p:txBody>
      </p:sp>
      <p:sp>
        <p:nvSpPr>
          <p:cNvPr id="25" name="Text 19"/>
          <p:cNvSpPr/>
          <p:nvPr/>
        </p:nvSpPr>
        <p:spPr>
          <a:xfrm>
            <a:off x="9860260" y="2819202"/>
            <a:ext cx="139194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CE8DF"/>
                </a:solidFill>
                <a:latin typeface="DM Sans" pitchFamily="34" charset="0"/>
                <a:ea typeface="DM Sans" pitchFamily="34" charset="-122"/>
                <a:cs typeface="DM Sans" pitchFamily="34" charset="-120"/>
              </a:rPr>
              <a:t>Godkendt og afvist betaling</a:t>
            </a:r>
            <a:endParaRPr lang="en-US" sz="1200" dirty="0"/>
          </a:p>
        </p:txBody>
      </p:sp>
      <p:sp>
        <p:nvSpPr>
          <p:cNvPr id="26" name="Text 20"/>
          <p:cNvSpPr/>
          <p:nvPr/>
        </p:nvSpPr>
        <p:spPr>
          <a:xfrm>
            <a:off x="812800" y="3822402"/>
            <a:ext cx="3488233"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3E8E5A"/>
                </a:solidFill>
                <a:latin typeface="Domine" pitchFamily="18" charset="0"/>
                <a:ea typeface="Domine" pitchFamily="18" charset="-122"/>
                <a:cs typeface="Domine" pitchFamily="18" charset="-120"/>
              </a:rPr>
              <a:t>20</a:t>
            </a:r>
            <a:endParaRPr lang="en-US" sz="3600" dirty="0"/>
          </a:p>
        </p:txBody>
      </p:sp>
      <p:sp>
        <p:nvSpPr>
          <p:cNvPr id="27" name="Text 21"/>
          <p:cNvSpPr/>
          <p:nvPr/>
        </p:nvSpPr>
        <p:spPr>
          <a:xfrm>
            <a:off x="812800" y="4487863"/>
            <a:ext cx="348823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42"/>
                </a:solidFill>
                <a:latin typeface="DM Sans" pitchFamily="34" charset="0"/>
                <a:ea typeface="DM Sans" pitchFamily="34" charset="-122"/>
                <a:cs typeface="DM Sans" pitchFamily="34" charset="-120"/>
              </a:rPr>
              <a:t>funktionelle krav med citat</a:t>
            </a:r>
            <a:endParaRPr lang="en-US" sz="1400" dirty="0"/>
          </a:p>
        </p:txBody>
      </p:sp>
      <p:sp>
        <p:nvSpPr>
          <p:cNvPr id="28" name="Text 22"/>
          <p:cNvSpPr/>
          <p:nvPr/>
        </p:nvSpPr>
        <p:spPr>
          <a:xfrm>
            <a:off x="4402634" y="3822402"/>
            <a:ext cx="3488335"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3E8E5A"/>
                </a:solidFill>
                <a:latin typeface="Domine" pitchFamily="18" charset="0"/>
                <a:ea typeface="Domine" pitchFamily="18" charset="-122"/>
                <a:cs typeface="Domine" pitchFamily="18" charset="-120"/>
              </a:rPr>
              <a:t>6</a:t>
            </a:r>
            <a:endParaRPr lang="en-US" sz="3600" dirty="0"/>
          </a:p>
        </p:txBody>
      </p:sp>
      <p:sp>
        <p:nvSpPr>
          <p:cNvPr id="29" name="Text 23"/>
          <p:cNvSpPr/>
          <p:nvPr/>
        </p:nvSpPr>
        <p:spPr>
          <a:xfrm>
            <a:off x="4402634" y="4487863"/>
            <a:ext cx="3488335"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42"/>
                </a:solidFill>
                <a:latin typeface="DM Sans" pitchFamily="34" charset="0"/>
                <a:ea typeface="DM Sans" pitchFamily="34" charset="-122"/>
                <a:cs typeface="DM Sans" pitchFamily="34" charset="-120"/>
              </a:rPr>
              <a:t>målbare ikke-funktionelle krav</a:t>
            </a:r>
            <a:endParaRPr lang="en-US" sz="1400" dirty="0"/>
          </a:p>
        </p:txBody>
      </p:sp>
      <p:sp>
        <p:nvSpPr>
          <p:cNvPr id="30" name="Text 24"/>
          <p:cNvSpPr/>
          <p:nvPr/>
        </p:nvSpPr>
        <p:spPr>
          <a:xfrm>
            <a:off x="7992566" y="3822402"/>
            <a:ext cx="3488233"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3E8E5A"/>
                </a:solidFill>
                <a:latin typeface="Domine" pitchFamily="18" charset="0"/>
                <a:ea typeface="Domine" pitchFamily="18" charset="-122"/>
                <a:cs typeface="Domine" pitchFamily="18" charset="-120"/>
              </a:rPr>
              <a:t>19</a:t>
            </a:r>
            <a:endParaRPr lang="en-US" sz="3600" dirty="0"/>
          </a:p>
        </p:txBody>
      </p:sp>
      <p:sp>
        <p:nvSpPr>
          <p:cNvPr id="31" name="Text 25"/>
          <p:cNvSpPr/>
          <p:nvPr/>
        </p:nvSpPr>
        <p:spPr>
          <a:xfrm>
            <a:off x="7992566" y="4487863"/>
            <a:ext cx="348823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42"/>
                </a:solidFill>
                <a:latin typeface="DM Sans" pitchFamily="34" charset="0"/>
                <a:ea typeface="DM Sans" pitchFamily="34" charset="-122"/>
                <a:cs typeface="DM Sans" pitchFamily="34" charset="-120"/>
              </a:rPr>
              <a:t>use cases med ID</a:t>
            </a:r>
            <a:endParaRPr lang="en-US" sz="1400" dirty="0"/>
          </a:p>
        </p:txBody>
      </p:sp>
      <p:sp>
        <p:nvSpPr>
          <p:cNvPr id="32" name="Text 2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A71"/>
                </a:solidFill>
                <a:latin typeface="DM Sans" pitchFamily="34" charset="0"/>
                <a:ea typeface="DM Sans" pitchFamily="34" charset="-122"/>
                <a:cs typeface="DM Sans" pitchFamily="34" charset="-120"/>
              </a:rPr>
              <a:t>Kløverly · SEP1 reeksamen</a:t>
            </a:r>
            <a:endParaRPr lang="en-US" sz="1200" dirty="0"/>
          </a:p>
        </p:txBody>
      </p:sp>
      <p:sp>
        <p:nvSpPr>
          <p:cNvPr id="33" name="Text 2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3E8E5A"/>
                </a:solidFill>
                <a:latin typeface="DM Sans" pitchFamily="34" charset="0"/>
                <a:ea typeface="DM Sans" pitchFamily="34" charset="-122"/>
                <a:cs typeface="DM Sans" pitchFamily="34" charset="-120"/>
              </a:rPr>
              <a:t>Mehmet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815975" y="733425"/>
            <a:ext cx="5670550" cy="5187950"/>
          </a:xfrm>
          <a:prstGeom prst="roundRect">
            <a:avLst>
              <a:gd name="adj" fmla="val 1897"/>
            </a:avLst>
          </a:prstGeom>
          <a:solidFill>
            <a:srgbClr val="FFFFFC"/>
          </a:solidFill>
          <a:ln w="6350">
            <a:solidFill>
              <a:srgbClr val="D8E2DA"/>
            </a:solidFill>
            <a:prstDash val="solid"/>
          </a:ln>
        </p:spPr>
      </p:sp>
      <p:pic>
        <p:nvPicPr>
          <p:cNvPr id="3" name="Image 0" descr="Use case-diagram med to systemgrænser, administrationsprogram og hjemmeside, og 19 use cases">    </p:cNvPr>
          <p:cNvPicPr>
            <a:picLocks noChangeAspect="1"/>
          </p:cNvPicPr>
          <p:nvPr/>
        </p:nvPicPr>
        <p:blipFill>
          <a:blip r:embed="rId1"/>
          <a:srcRect l="0" r="0" t="-67" b="-67"/>
          <a:stretch/>
        </p:blipFill>
        <p:spPr>
          <a:xfrm>
            <a:off x="920750" y="838200"/>
            <a:ext cx="5461000" cy="4978400"/>
          </a:xfrm>
          <a:prstGeom prst="rect">
            <a:avLst/>
          </a:prstGeom>
        </p:spPr>
      </p:pic>
      <p:sp>
        <p:nvSpPr>
          <p:cNvPr id="4" name="Text 1"/>
          <p:cNvSpPr/>
          <p:nvPr/>
        </p:nvSpPr>
        <p:spPr>
          <a:xfrm>
            <a:off x="6896100" y="1852315"/>
            <a:ext cx="4617593"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3E8E5A"/>
                </a:solidFill>
                <a:latin typeface="DM Sans" pitchFamily="34" charset="0"/>
                <a:ea typeface="DM Sans" pitchFamily="34" charset="-122"/>
                <a:cs typeface="DM Sans" pitchFamily="34" charset="-120"/>
              </a:rPr>
              <a:t>ANALYSE</a:t>
            </a:r>
            <a:endParaRPr lang="en-US" sz="1300" dirty="0"/>
          </a:p>
        </p:txBody>
      </p:sp>
      <p:sp>
        <p:nvSpPr>
          <p:cNvPr id="5" name="Text 2"/>
          <p:cNvSpPr/>
          <p:nvPr>
            <p:ph type="title"/>
          </p:nvPr>
        </p:nvSpPr>
        <p:spPr>
          <a:xfrm>
            <a:off x="6896100" y="2261195"/>
            <a:ext cx="4617593"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3D2F"/>
                </a:solidFill>
                <a:latin typeface="Domine" pitchFamily="18" charset="0"/>
                <a:ea typeface="Domine" pitchFamily="18" charset="-122"/>
                <a:cs typeface="Domine" pitchFamily="18" charset="-120"/>
              </a:rPr>
              <a:t>19 use cases i to systemer</a:t>
            </a:r>
            <a:endParaRPr lang="en-US" sz="3200" dirty="0"/>
          </a:p>
        </p:txBody>
      </p:sp>
      <p:sp>
        <p:nvSpPr>
          <p:cNvPr id="6" name="Text 3"/>
          <p:cNvSpPr/>
          <p:nvPr/>
        </p:nvSpPr>
        <p:spPr>
          <a:xfrm>
            <a:off x="6967220" y="3373636"/>
            <a:ext cx="4538853" cy="145415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b="1" dirty="0">
                <a:solidFill>
                  <a:srgbClr val="3A4A42"/>
                </a:solidFill>
                <a:latin typeface="DM Sans" pitchFamily="34" charset="0"/>
                <a:ea typeface="DM Sans" pitchFamily="34" charset="-122"/>
                <a:cs typeface="DM Sans" pitchFamily="34" charset="-120"/>
              </a:rPr>
              <a:t>Administrationsprogram:</a:t>
            </a:r>
            <a:r>
              <a:rPr lang="en-US" sz="1500" dirty="0">
                <a:solidFill>
                  <a:srgbClr val="3A4A42"/>
                </a:solidFill>
                <a:latin typeface="DM Sans" pitchFamily="34" charset="0"/>
                <a:ea typeface="DM Sans" pitchFamily="34" charset="-122"/>
                <a:cs typeface="DM Sans" pitchFamily="34" charset="-120"/>
              </a:rPr>
              <a:t> kun koordinatoren bruger det</a:t>
            </a:r>
            <a:endParaRPr lang="en-US" sz="1500" dirty="0"/>
          </a:p>
          <a:p>
            <a:pPr algn="l" marL="182880" indent="-182880">
              <a:lnSpc>
                <a:spcPts val="2250"/>
              </a:lnSpc>
              <a:buSzPct val="100000"/>
              <a:buChar char="•"/>
            </a:pPr>
            <a:r>
              <a:rPr lang="en-US" sz="1500" b="1" dirty="0">
                <a:solidFill>
                  <a:srgbClr val="3A4A42"/>
                </a:solidFill>
                <a:latin typeface="DM Sans" pitchFamily="34" charset="0"/>
                <a:ea typeface="DM Sans" pitchFamily="34" charset="-122"/>
                <a:cs typeface="DM Sans" pitchFamily="34" charset="-120"/>
              </a:rPr>
              <a:t>Hjemmeside:</a:t>
            </a:r>
            <a:r>
              <a:rPr lang="en-US" sz="1500" dirty="0">
                <a:solidFill>
                  <a:srgbClr val="3A4A42"/>
                </a:solidFill>
                <a:latin typeface="DM Sans" pitchFamily="34" charset="0"/>
                <a:ea typeface="DM Sans" pitchFamily="34" charset="-122"/>
                <a:cs typeface="DM Sans" pitchFamily="34" charset="-120"/>
              </a:rPr>
              <a:t> beboere og besøgende læser her</a:t>
            </a:r>
            <a:endParaRPr lang="en-US" sz="1500" dirty="0"/>
          </a:p>
          <a:p>
            <a:pPr algn="l" marL="182880" indent="-182880">
              <a:lnSpc>
                <a:spcPts val="2250"/>
              </a:lnSpc>
              <a:buSzPct val="100000"/>
              <a:buChar char="•"/>
            </a:pPr>
            <a:r>
              <a:rPr lang="en-US" sz="1500" dirty="0">
                <a:solidFill>
                  <a:srgbClr val="3A4A42"/>
                </a:solidFill>
                <a:latin typeface="DM Sans" pitchFamily="34" charset="0"/>
                <a:ea typeface="DM Sans" pitchFamily="34" charset="-122"/>
                <a:cs typeface="DM Sans" pitchFamily="34" charset="-120"/>
              </a:rPr>
              <a:t>Tre pakker: Beboere, Opgaver, Point og rapport</a:t>
            </a:r>
            <a:endParaRPr lang="en-US" sz="1500" dirty="0"/>
          </a:p>
          <a:p>
            <a:pPr algn="l" marL="182880" indent="-182880">
              <a:lnSpc>
                <a:spcPts val="2250"/>
              </a:lnSpc>
              <a:buSzPct val="100000"/>
              <a:buChar char="•"/>
            </a:pPr>
            <a:r>
              <a:rPr lang="en-US" sz="1500" dirty="0">
                <a:solidFill>
                  <a:srgbClr val="3A4A42"/>
                </a:solidFill>
                <a:latin typeface="DM Sans" pitchFamily="34" charset="0"/>
                <a:ea typeface="DM Sans" pitchFamily="34" charset="-122"/>
                <a:cs typeface="DM Sans" pitchFamily="34" charset="-120"/>
              </a:rPr>
              <a:t>Pakkerne bliver til menuen i programmet</a:t>
            </a:r>
            <a:endParaRPr lang="en-US" sz="1500" dirty="0"/>
          </a:p>
        </p:txBody>
      </p:sp>
      <p:sp>
        <p:nvSpPr>
          <p:cNvPr id="7" name="Text 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A71"/>
                </a:solidFill>
                <a:latin typeface="DM Sans" pitchFamily="34" charset="0"/>
                <a:ea typeface="DM Sans" pitchFamily="34" charset="-122"/>
                <a:cs typeface="DM Sans" pitchFamily="34" charset="-120"/>
              </a:rPr>
              <a:t>Kløverly · SEP1 reeksamen</a:t>
            </a:r>
            <a:endParaRPr lang="en-US" sz="1200" dirty="0"/>
          </a:p>
        </p:txBody>
      </p:sp>
      <p:sp>
        <p:nvSpPr>
          <p:cNvPr id="8" name="Text 5"/>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3E8E5A"/>
                </a:solidFill>
                <a:latin typeface="DM Sans" pitchFamily="34" charset="0"/>
                <a:ea typeface="DM Sans" pitchFamily="34" charset="-122"/>
                <a:cs typeface="DM Sans" pitchFamily="34" charset="-120"/>
              </a:rPr>
              <a:t>Mehmet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1341140"/>
            <a:ext cx="4879213"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3E8E5A"/>
                </a:solidFill>
                <a:latin typeface="DM Sans" pitchFamily="34" charset="0"/>
                <a:ea typeface="DM Sans" pitchFamily="34" charset="-122"/>
                <a:cs typeface="DM Sans" pitchFamily="34" charset="-120"/>
              </a:rPr>
              <a:t>DOMÆNEMODEL OG POINTREGLER</a:t>
            </a:r>
            <a:endParaRPr lang="en-US" sz="1300" dirty="0"/>
          </a:p>
        </p:txBody>
      </p:sp>
      <p:sp>
        <p:nvSpPr>
          <p:cNvPr id="3" name="Text 1"/>
          <p:cNvSpPr/>
          <p:nvPr>
            <p:ph type="title"/>
          </p:nvPr>
        </p:nvSpPr>
        <p:spPr>
          <a:xfrm>
            <a:off x="812800" y="1750020"/>
            <a:ext cx="4879213"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B3D2F"/>
                </a:solidFill>
                <a:latin typeface="Domine" pitchFamily="18" charset="0"/>
                <a:ea typeface="Domine" pitchFamily="18" charset="-122"/>
                <a:cs typeface="Domine" pitchFamily="18" charset="-120"/>
              </a:rPr>
              <a:t>Point er posteringer, ikke ét tal</a:t>
            </a:r>
            <a:endParaRPr lang="en-US" sz="3200" dirty="0"/>
          </a:p>
        </p:txBody>
      </p:sp>
      <p:sp>
        <p:nvSpPr>
          <p:cNvPr id="4" name="Text 2"/>
          <p:cNvSpPr/>
          <p:nvPr/>
        </p:nvSpPr>
        <p:spPr>
          <a:xfrm>
            <a:off x="812800" y="2862461"/>
            <a:ext cx="4737100" cy="838200"/>
          </a:xfrm>
          <a:prstGeom prst="roundRect">
            <a:avLst>
              <a:gd name="adj" fmla="val 9091"/>
            </a:avLst>
          </a:prstGeom>
          <a:solidFill>
            <a:srgbClr val="FFFFFC"/>
          </a:solidFill>
          <a:ln/>
        </p:spPr>
        <p:txBody>
          <a:bodyPr wrap="square" lIns="231682" tIns="130082" rIns="52485" bIns="104682" rtlCol="0" anchor="t">
            <a:normAutofit/>
          </a:bodyPr>
          <a:lstStyle/>
          <a:p>
            <a:pPr algn="l" indent="0" marL="0">
              <a:lnSpc>
                <a:spcPts val="2100"/>
              </a:lnSpc>
              <a:buNone/>
            </a:pPr>
            <a:r>
              <a:rPr lang="en-US" sz="1500" b="1" dirty="0">
                <a:solidFill>
                  <a:srgbClr val="3A4A42"/>
                </a:solidFill>
                <a:latin typeface="DM Sans" pitchFamily="34" charset="0"/>
                <a:ea typeface="DM Sans" pitchFamily="34" charset="-122"/>
                <a:cs typeface="DM Sans" pitchFamily="34" charset="-120"/>
              </a:rPr>
              <a:t>Saldo</a:t>
            </a:r>
            <a:r>
              <a:rPr lang="en-US" sz="1500" dirty="0">
                <a:solidFill>
                  <a:srgbClr val="3A4A42"/>
                </a:solidFill>
                <a:latin typeface="DM Sans" pitchFamily="34" charset="0"/>
                <a:ea typeface="DM Sans" pitchFamily="34" charset="-122"/>
                <a:cs typeface="DM Sans" pitchFamily="34" charset="-120"/>
              </a:rPr>
              <a:t> = summen af beboerens posteringer, så historikken altid passer</a:t>
            </a:r>
            <a:endParaRPr lang="en-US" sz="1500" dirty="0"/>
          </a:p>
        </p:txBody>
      </p:sp>
      <p:sp>
        <p:nvSpPr>
          <p:cNvPr id="5" name="Shape 3"/>
          <p:cNvSpPr/>
          <p:nvPr/>
        </p:nvSpPr>
        <p:spPr>
          <a:xfrm>
            <a:off x="812800" y="2862461"/>
            <a:ext cx="4737100" cy="838200"/>
          </a:xfrm>
          <a:custGeom>
            <a:avLst/>
            <a:gdLst/>
            <a:ahLst/>
            <a:cxnLst/>
            <a:rect l="l" t="t" r="r" b="b"/>
            <a:pathLst>
              <a:path w="4737100" h="838200">
                <a:moveTo>
                  <a:pt x="76200" y="838200"/>
                </a:moveTo>
                <a:lnTo>
                  <a:pt x="76200" y="838200"/>
                </a:lnTo>
                <a:arcTo hR="76200" wR="76200" stAng="5400000" swAng="5400000"/>
                <a:lnTo>
                  <a:pt x="0" y="76200"/>
                </a:lnTo>
                <a:arcTo hR="76200" wR="76200" stAng="10800000" swAng="5400000"/>
                <a:lnTo>
                  <a:pt x="76200" y="0"/>
                </a:lnTo>
                <a:arcTo hR="76200" wR="25400" stAng="16200000" swAng="-5400000"/>
                <a:lnTo>
                  <a:pt x="50800" y="762000"/>
                </a:lnTo>
                <a:arcTo hR="76200" wR="25400" stAng="10800000" swAng="-5400000"/>
                <a:close/>
              </a:path>
            </a:pathLst>
          </a:custGeom>
          <a:solidFill>
            <a:srgbClr val="3E8E5A"/>
          </a:solidFill>
          <a:ln/>
        </p:spPr>
      </p:sp>
      <p:sp>
        <p:nvSpPr>
          <p:cNvPr id="6" name="Text 4"/>
          <p:cNvSpPr/>
          <p:nvPr/>
        </p:nvSpPr>
        <p:spPr>
          <a:xfrm>
            <a:off x="812800" y="3802261"/>
            <a:ext cx="4737100" cy="838200"/>
          </a:xfrm>
          <a:prstGeom prst="roundRect">
            <a:avLst>
              <a:gd name="adj" fmla="val 9091"/>
            </a:avLst>
          </a:prstGeom>
          <a:solidFill>
            <a:srgbClr val="FFFFFC"/>
          </a:solidFill>
          <a:ln/>
        </p:spPr>
        <p:txBody>
          <a:bodyPr wrap="square" lIns="231682" tIns="130082" rIns="52485" bIns="104682" rtlCol="0" anchor="t">
            <a:normAutofit/>
          </a:bodyPr>
          <a:lstStyle/>
          <a:p>
            <a:pPr algn="l" indent="0" marL="0">
              <a:lnSpc>
                <a:spcPts val="2100"/>
              </a:lnSpc>
              <a:buNone/>
            </a:pPr>
            <a:r>
              <a:rPr lang="en-US" sz="1500" b="1" dirty="0">
                <a:solidFill>
                  <a:srgbClr val="3A4A42"/>
                </a:solidFill>
                <a:latin typeface="DM Sans" pitchFamily="34" charset="0"/>
                <a:ea typeface="DM Sans" pitchFamily="34" charset="-122"/>
                <a:cs typeface="DM Sans" pitchFamily="34" charset="-120"/>
              </a:rPr>
              <a:t>Bytteopgave</a:t>
            </a:r>
            <a:r>
              <a:rPr lang="en-US" sz="1500" dirty="0">
                <a:solidFill>
                  <a:srgbClr val="3A4A42"/>
                </a:solidFill>
                <a:latin typeface="DM Sans" pitchFamily="34" charset="0"/>
                <a:ea typeface="DM Sans" pitchFamily="34" charset="-122"/>
                <a:cs typeface="DM Sans" pitchFamily="34" charset="-120"/>
              </a:rPr>
              <a:t> trækker point, når den oprettes – afvises ved for få point</a:t>
            </a:r>
            <a:endParaRPr lang="en-US" sz="1500" dirty="0"/>
          </a:p>
        </p:txBody>
      </p:sp>
      <p:sp>
        <p:nvSpPr>
          <p:cNvPr id="7" name="Shape 5"/>
          <p:cNvSpPr/>
          <p:nvPr/>
        </p:nvSpPr>
        <p:spPr>
          <a:xfrm>
            <a:off x="812800" y="3802261"/>
            <a:ext cx="4737100" cy="838200"/>
          </a:xfrm>
          <a:custGeom>
            <a:avLst/>
            <a:gdLst/>
            <a:ahLst/>
            <a:cxnLst/>
            <a:rect l="l" t="t" r="r" b="b"/>
            <a:pathLst>
              <a:path w="4737100" h="838200">
                <a:moveTo>
                  <a:pt x="76200" y="838200"/>
                </a:moveTo>
                <a:lnTo>
                  <a:pt x="76200" y="838200"/>
                </a:lnTo>
                <a:arcTo hR="76200" wR="76200" stAng="5400000" swAng="5400000"/>
                <a:lnTo>
                  <a:pt x="0" y="76200"/>
                </a:lnTo>
                <a:arcTo hR="76200" wR="76200" stAng="10800000" swAng="5400000"/>
                <a:lnTo>
                  <a:pt x="76200" y="0"/>
                </a:lnTo>
                <a:arcTo hR="76200" wR="25400" stAng="16200000" swAng="-5400000"/>
                <a:lnTo>
                  <a:pt x="50800" y="762000"/>
                </a:lnTo>
                <a:arcTo hR="76200" wR="25400" stAng="10800000" swAng="-5400000"/>
                <a:close/>
              </a:path>
            </a:pathLst>
          </a:custGeom>
          <a:solidFill>
            <a:srgbClr val="C98A2B"/>
          </a:solidFill>
          <a:ln/>
        </p:spPr>
      </p:sp>
      <p:sp>
        <p:nvSpPr>
          <p:cNvPr id="8" name="Text 6"/>
          <p:cNvSpPr/>
          <p:nvPr/>
        </p:nvSpPr>
        <p:spPr>
          <a:xfrm>
            <a:off x="812800" y="4742061"/>
            <a:ext cx="4737100" cy="571500"/>
          </a:xfrm>
          <a:prstGeom prst="roundRect">
            <a:avLst>
              <a:gd name="adj" fmla="val 13333"/>
            </a:avLst>
          </a:prstGeom>
          <a:solidFill>
            <a:srgbClr val="FFFFFC"/>
          </a:solidFill>
          <a:ln/>
        </p:spPr>
        <p:txBody>
          <a:bodyPr wrap="square" lIns="231682" tIns="130082" rIns="52485" bIns="104682" rtlCol="0" anchor="t">
            <a:normAutofit/>
          </a:bodyPr>
          <a:lstStyle/>
          <a:p>
            <a:pPr algn="l" indent="0" marL="0">
              <a:lnSpc>
                <a:spcPts val="2100"/>
              </a:lnSpc>
              <a:buNone/>
            </a:pPr>
            <a:r>
              <a:rPr lang="en-US" sz="1500" b="1" dirty="0">
                <a:solidFill>
                  <a:srgbClr val="3A4A42"/>
                </a:solidFill>
                <a:latin typeface="DM Sans" pitchFamily="34" charset="0"/>
                <a:ea typeface="DM Sans" pitchFamily="34" charset="-122"/>
                <a:cs typeface="DM Sans" pitchFamily="34" charset="-120"/>
              </a:rPr>
              <a:t>Nulstilling</a:t>
            </a:r>
            <a:r>
              <a:rPr lang="en-US" sz="1500" dirty="0">
                <a:solidFill>
                  <a:srgbClr val="3A4A42"/>
                </a:solidFill>
                <a:latin typeface="DM Sans" pitchFamily="34" charset="0"/>
                <a:ea typeface="DM Sans" pitchFamily="34" charset="-122"/>
                <a:cs typeface="DM Sans" pitchFamily="34" charset="-120"/>
              </a:rPr>
              <a:t> er en ny postering – intet slettes</a:t>
            </a:r>
            <a:endParaRPr lang="en-US" sz="1500" dirty="0"/>
          </a:p>
        </p:txBody>
      </p:sp>
      <p:sp>
        <p:nvSpPr>
          <p:cNvPr id="9" name="Shape 7"/>
          <p:cNvSpPr/>
          <p:nvPr/>
        </p:nvSpPr>
        <p:spPr>
          <a:xfrm>
            <a:off x="812800" y="4742061"/>
            <a:ext cx="4737100" cy="571500"/>
          </a:xfrm>
          <a:custGeom>
            <a:avLst/>
            <a:gdLst/>
            <a:ahLst/>
            <a:cxnLst/>
            <a:rect l="l" t="t" r="r" b="b"/>
            <a:pathLst>
              <a:path w="4737100" h="571500">
                <a:moveTo>
                  <a:pt x="76200" y="571500"/>
                </a:moveTo>
                <a:lnTo>
                  <a:pt x="76200" y="571500"/>
                </a:lnTo>
                <a:arcTo hR="76200" wR="76200" stAng="5400000" swAng="5400000"/>
                <a:lnTo>
                  <a:pt x="0" y="76200"/>
                </a:lnTo>
                <a:arcTo hR="76200" wR="76200" stAng="10800000" swAng="5400000"/>
                <a:lnTo>
                  <a:pt x="76200" y="0"/>
                </a:lnTo>
                <a:arcTo hR="76200" wR="25400" stAng="16200000" swAng="-5400000"/>
                <a:lnTo>
                  <a:pt x="50800" y="495300"/>
                </a:lnTo>
                <a:arcTo hR="76200" wR="25400" stAng="10800000" swAng="-5400000"/>
                <a:close/>
              </a:path>
            </a:pathLst>
          </a:custGeom>
          <a:solidFill>
            <a:srgbClr val="2E6E8E"/>
          </a:solidFill>
          <a:ln/>
        </p:spPr>
      </p:sp>
      <p:sp>
        <p:nvSpPr>
          <p:cNvPr id="10" name="Shape 8"/>
          <p:cNvSpPr/>
          <p:nvPr/>
        </p:nvSpPr>
        <p:spPr>
          <a:xfrm>
            <a:off x="5959475" y="1190625"/>
            <a:ext cx="5416550" cy="4273550"/>
          </a:xfrm>
          <a:prstGeom prst="roundRect">
            <a:avLst>
              <a:gd name="adj" fmla="val 2303"/>
            </a:avLst>
          </a:prstGeom>
          <a:solidFill>
            <a:srgbClr val="FFFFFC"/>
          </a:solidFill>
          <a:ln w="6350">
            <a:solidFill>
              <a:srgbClr val="D8E2DA"/>
            </a:solidFill>
            <a:prstDash val="solid"/>
          </a:ln>
        </p:spPr>
      </p:sp>
      <p:pic>
        <p:nvPicPr>
          <p:cNvPr id="11" name="Image 0" descr="Domænemodel med Beboer, Opgave og dens tre typer, Pointpostering og FællesPointpulje">    </p:cNvPr>
          <p:cNvPicPr>
            <a:picLocks noChangeAspect="1"/>
          </p:cNvPicPr>
          <p:nvPr/>
        </p:nvPicPr>
        <p:blipFill>
          <a:blip r:embed="rId1"/>
          <a:srcRect l="0" r="0" t="-2186" b="-2186"/>
          <a:stretch/>
        </p:blipFill>
        <p:spPr>
          <a:xfrm>
            <a:off x="6064250" y="1295400"/>
            <a:ext cx="5207000" cy="4064000"/>
          </a:xfrm>
          <a:prstGeom prst="rect">
            <a:avLst/>
          </a:prstGeom>
        </p:spPr>
      </p:pic>
      <p:sp>
        <p:nvSpPr>
          <p:cNvPr id="12"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A71"/>
                </a:solidFill>
                <a:latin typeface="DM Sans" pitchFamily="34" charset="0"/>
                <a:ea typeface="DM Sans" pitchFamily="34" charset="-122"/>
                <a:cs typeface="DM Sans" pitchFamily="34" charset="-120"/>
              </a:rPr>
              <a:t>Kløverly · SEP1 reeksamen</a:t>
            </a:r>
            <a:endParaRPr lang="en-US" sz="1200" dirty="0"/>
          </a:p>
        </p:txBody>
      </p:sp>
      <p:sp>
        <p:nvSpPr>
          <p:cNvPr id="13" name="Text 1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3E8E5A"/>
                </a:solidFill>
                <a:latin typeface="DM Sans" pitchFamily="34" charset="0"/>
                <a:ea typeface="DM Sans" pitchFamily="34" charset="-122"/>
                <a:cs typeface="DM Sans" pitchFamily="34" charset="-120"/>
              </a:rPr>
              <a:t>Mehmet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Shape 0"/>
          <p:cNvSpPr/>
          <p:nvPr/>
        </p:nvSpPr>
        <p:spPr>
          <a:xfrm>
            <a:off x="815975" y="1203325"/>
            <a:ext cx="6559550" cy="4248150"/>
          </a:xfrm>
          <a:prstGeom prst="roundRect">
            <a:avLst>
              <a:gd name="adj" fmla="val 2317"/>
            </a:avLst>
          </a:prstGeom>
          <a:solidFill>
            <a:srgbClr val="FFFFFC"/>
          </a:solidFill>
          <a:ln w="6350">
            <a:solidFill>
              <a:srgbClr val="D8E2DA"/>
            </a:solidFill>
            <a:prstDash val="solid"/>
          </a:ln>
        </p:spPr>
      </p:sp>
      <p:pic>
        <p:nvPicPr>
          <p:cNvPr id="3" name="Image 0" descr="Klassediagram for modellen med Beboer, Opgave, Fællesopgave, GrøntTiltag, Bytteopgave, Pointpostering og FaellesPointpulje">    </p:cNvPr>
          <p:cNvPicPr>
            <a:picLocks noChangeAspect="1"/>
          </p:cNvPicPr>
          <p:nvPr/>
        </p:nvPicPr>
        <p:blipFill>
          <a:blip r:embed="rId1"/>
          <a:srcRect l="0" r="0" t="-13" b="-13"/>
          <a:stretch/>
        </p:blipFill>
        <p:spPr>
          <a:xfrm>
            <a:off x="920750" y="1308100"/>
            <a:ext cx="6350000" cy="4038600"/>
          </a:xfrm>
          <a:prstGeom prst="rect">
            <a:avLst/>
          </a:prstGeom>
        </p:spPr>
      </p:pic>
      <p:sp>
        <p:nvSpPr>
          <p:cNvPr id="4" name="Text 1"/>
          <p:cNvSpPr/>
          <p:nvPr/>
        </p:nvSpPr>
        <p:spPr>
          <a:xfrm>
            <a:off x="7734300" y="1887240"/>
            <a:ext cx="3754247"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E6E8E"/>
                </a:solidFill>
                <a:latin typeface="DM Sans" pitchFamily="34" charset="0"/>
                <a:ea typeface="DM Sans" pitchFamily="34" charset="-122"/>
                <a:cs typeface="DM Sans" pitchFamily="34" charset="-120"/>
              </a:rPr>
              <a:t>DESIGN</a:t>
            </a:r>
            <a:endParaRPr lang="en-US" sz="1300" dirty="0"/>
          </a:p>
        </p:txBody>
      </p:sp>
      <p:sp>
        <p:nvSpPr>
          <p:cNvPr id="5" name="Text 2"/>
          <p:cNvSpPr/>
          <p:nvPr>
            <p:ph type="title"/>
          </p:nvPr>
        </p:nvSpPr>
        <p:spPr>
          <a:xfrm>
            <a:off x="7734300" y="2270720"/>
            <a:ext cx="3754247" cy="90170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B3D2F"/>
                </a:solidFill>
                <a:latin typeface="Domine" pitchFamily="18" charset="0"/>
                <a:ea typeface="Domine" pitchFamily="18" charset="-122"/>
                <a:cs typeface="Domine" pitchFamily="18" charset="-120"/>
              </a:rPr>
              <a:t>Fire dele med hvert sit ansvar</a:t>
            </a:r>
            <a:endParaRPr lang="en-US" sz="3000" dirty="0"/>
          </a:p>
        </p:txBody>
      </p:sp>
      <p:sp>
        <p:nvSpPr>
          <p:cNvPr id="6" name="Text 3"/>
          <p:cNvSpPr/>
          <p:nvPr/>
        </p:nvSpPr>
        <p:spPr>
          <a:xfrm>
            <a:off x="7818882" y="3299420"/>
            <a:ext cx="3662045"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b="1" dirty="0">
                <a:solidFill>
                  <a:srgbClr val="3A4A42"/>
                </a:solidFill>
                <a:latin typeface="DM Sans" pitchFamily="34" charset="0"/>
                <a:ea typeface="DM Sans" pitchFamily="34" charset="-122"/>
                <a:cs typeface="DM Sans" pitchFamily="34" charset="-120"/>
              </a:rPr>
              <a:t>model</a:t>
            </a:r>
            <a:r>
              <a:rPr lang="en-US" sz="1400" dirty="0">
                <a:solidFill>
                  <a:srgbClr val="3A4A42"/>
                </a:solidFill>
                <a:latin typeface="DM Sans" pitchFamily="34" charset="0"/>
                <a:ea typeface="DM Sans" pitchFamily="34" charset="-122"/>
                <a:cs typeface="DM Sans" pitchFamily="34" charset="-120"/>
              </a:rPr>
              <a:t> – regler og data</a:t>
            </a:r>
            <a:endParaRPr lang="en-US" sz="1400" dirty="0"/>
          </a:p>
          <a:p>
            <a:pPr algn="l" marL="169418" indent="-169418">
              <a:lnSpc>
                <a:spcPts val="2100"/>
              </a:lnSpc>
              <a:buSzPct val="100000"/>
              <a:buChar char="•"/>
            </a:pPr>
            <a:r>
              <a:rPr lang="en-US" sz="1400" b="1" dirty="0">
                <a:solidFill>
                  <a:srgbClr val="3A4A42"/>
                </a:solidFill>
                <a:latin typeface="DM Sans" pitchFamily="34" charset="0"/>
                <a:ea typeface="DM Sans" pitchFamily="34" charset="-122"/>
                <a:cs typeface="DM Sans" pitchFamily="34" charset="-120"/>
              </a:rPr>
              <a:t>data</a:t>
            </a:r>
            <a:r>
              <a:rPr lang="en-US" sz="1400" dirty="0">
                <a:solidFill>
                  <a:srgbClr val="3A4A42"/>
                </a:solidFill>
                <a:latin typeface="DM Sans" pitchFamily="34" charset="0"/>
                <a:ea typeface="DM Sans" pitchFamily="34" charset="-122"/>
                <a:cs typeface="DM Sans" pitchFamily="34" charset="-120"/>
              </a:rPr>
              <a:t> – gem, indlæs og data.json</a:t>
            </a:r>
            <a:endParaRPr lang="en-US" sz="1400" dirty="0"/>
          </a:p>
          <a:p>
            <a:pPr algn="l" marL="169418" indent="-169418">
              <a:lnSpc>
                <a:spcPts val="2100"/>
              </a:lnSpc>
              <a:buSzPct val="100000"/>
              <a:buChar char="•"/>
            </a:pPr>
            <a:r>
              <a:rPr lang="en-US" sz="1400" b="1" dirty="0">
                <a:solidFill>
                  <a:srgbClr val="3A4A42"/>
                </a:solidFill>
                <a:latin typeface="DM Sans" pitchFamily="34" charset="0"/>
                <a:ea typeface="DM Sans" pitchFamily="34" charset="-122"/>
                <a:cs typeface="DM Sans" pitchFamily="34" charset="-120"/>
              </a:rPr>
              <a:t>controller</a:t>
            </a:r>
            <a:r>
              <a:rPr lang="en-US" sz="1400" dirty="0">
                <a:solidFill>
                  <a:srgbClr val="3A4A42"/>
                </a:solidFill>
                <a:latin typeface="DM Sans" pitchFamily="34" charset="0"/>
                <a:ea typeface="DM Sans" pitchFamily="34" charset="-122"/>
                <a:cs typeface="DM Sans" pitchFamily="34" charset="-120"/>
              </a:rPr>
              <a:t> – ét skærmbillede hver</a:t>
            </a:r>
            <a:endParaRPr lang="en-US" sz="1400" dirty="0"/>
          </a:p>
          <a:p>
            <a:pPr algn="l" marL="169418" indent="-169418">
              <a:lnSpc>
                <a:spcPts val="2100"/>
              </a:lnSpc>
              <a:buSzPct val="100000"/>
              <a:buChar char="•"/>
            </a:pPr>
            <a:r>
              <a:rPr lang="en-US" sz="1400" b="1" dirty="0">
                <a:solidFill>
                  <a:srgbClr val="3A4A42"/>
                </a:solidFill>
                <a:latin typeface="DM Sans" pitchFamily="34" charset="0"/>
                <a:ea typeface="DM Sans" pitchFamily="34" charset="-122"/>
                <a:cs typeface="DM Sans" pitchFamily="34" charset="-120"/>
              </a:rPr>
              <a:t>FXML + CSS</a:t>
            </a:r>
            <a:r>
              <a:rPr lang="en-US" sz="1400" dirty="0">
                <a:solidFill>
                  <a:srgbClr val="3A4A42"/>
                </a:solidFill>
                <a:latin typeface="DM Sans" pitchFamily="34" charset="0"/>
                <a:ea typeface="DM Sans" pitchFamily="34" charset="-122"/>
                <a:cs typeface="DM Sans" pitchFamily="34" charset="-120"/>
              </a:rPr>
              <a:t> – udseendet</a:t>
            </a:r>
            <a:endParaRPr lang="en-US" sz="1400" dirty="0"/>
          </a:p>
        </p:txBody>
      </p:sp>
      <p:sp>
        <p:nvSpPr>
          <p:cNvPr id="7" name="Text 4"/>
          <p:cNvSpPr/>
          <p:nvPr/>
        </p:nvSpPr>
        <p:spPr>
          <a:xfrm>
            <a:off x="7734300" y="4518620"/>
            <a:ext cx="375424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3D2F"/>
                </a:solidFill>
                <a:latin typeface="DM Sans" pitchFamily="34" charset="0"/>
                <a:ea typeface="DM Sans" pitchFamily="34" charset="-122"/>
                <a:cs typeface="DM Sans" pitchFamily="34" charset="-120"/>
              </a:rPr>
              <a:t>Afhængighederne går kun én vej.</a:t>
            </a:r>
            <a:endParaRPr lang="en-US" sz="1400" dirty="0"/>
          </a:p>
        </p:txBody>
      </p:sp>
      <p:sp>
        <p:nvSpPr>
          <p:cNvPr id="8" name="Text 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A71"/>
                </a:solidFill>
                <a:latin typeface="DM Sans" pitchFamily="34" charset="0"/>
                <a:ea typeface="DM Sans" pitchFamily="34" charset="-122"/>
                <a:cs typeface="DM Sans" pitchFamily="34" charset="-120"/>
              </a:rPr>
              <a:t>Kløverly · SEP1 reeksamen</a:t>
            </a:r>
            <a:endParaRPr lang="en-US" sz="1200" dirty="0"/>
          </a:p>
        </p:txBody>
      </p:sp>
      <p:sp>
        <p:nvSpPr>
          <p:cNvPr id="9" name="Text 6"/>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E6E8E"/>
                </a:solidFill>
                <a:latin typeface="DM Sans" pitchFamily="34" charset="0"/>
                <a:ea typeface="DM Sans" pitchFamily="34" charset="-122"/>
                <a:cs typeface="DM Sans" pitchFamily="34" charset="-120"/>
              </a:rPr>
              <a:t>Chadi</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1926134"/>
            <a:ext cx="4800727"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E6E8E"/>
                </a:solidFill>
                <a:latin typeface="DM Sans" pitchFamily="34" charset="0"/>
                <a:ea typeface="DM Sans" pitchFamily="34" charset="-122"/>
                <a:cs typeface="DM Sans" pitchFamily="34" charset="-120"/>
              </a:rPr>
              <a:t>SEKVENSDIAGRAM · UC19</a:t>
            </a:r>
            <a:endParaRPr lang="en-US" sz="1300" dirty="0"/>
          </a:p>
        </p:txBody>
      </p:sp>
      <p:sp>
        <p:nvSpPr>
          <p:cNvPr id="3" name="Text 1"/>
          <p:cNvSpPr/>
          <p:nvPr>
            <p:ph type="title"/>
          </p:nvPr>
        </p:nvSpPr>
        <p:spPr>
          <a:xfrm>
            <a:off x="812800" y="2309614"/>
            <a:ext cx="4800727" cy="46355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B3D2F"/>
                </a:solidFill>
                <a:latin typeface="Domine" pitchFamily="18" charset="0"/>
                <a:ea typeface="Domine" pitchFamily="18" charset="-122"/>
                <a:cs typeface="Domine" pitchFamily="18" charset="-120"/>
              </a:rPr>
              <a:t>Afslut opgave – tre veje</a:t>
            </a:r>
            <a:endParaRPr lang="en-US" sz="3000" dirty="0"/>
          </a:p>
        </p:txBody>
      </p:sp>
      <p:sp>
        <p:nvSpPr>
          <p:cNvPr id="4" name="Text 2"/>
          <p:cNvSpPr/>
          <p:nvPr/>
        </p:nvSpPr>
        <p:spPr>
          <a:xfrm>
            <a:off x="812800" y="2900164"/>
            <a:ext cx="480072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A42"/>
                </a:solidFill>
                <a:latin typeface="DM Sans" pitchFamily="34" charset="0"/>
                <a:ea typeface="DM Sans" pitchFamily="34" charset="-122"/>
                <a:cs typeface="DM Sans" pitchFamily="34" charset="-120"/>
              </a:rPr>
              <a:t>Fællesopgave:</a:t>
            </a:r>
            <a:r>
              <a:rPr lang="en-US" sz="1400" dirty="0">
                <a:solidFill>
                  <a:srgbClr val="3A4A42"/>
                </a:solidFill>
                <a:latin typeface="DM Sans" pitchFamily="34" charset="0"/>
                <a:ea typeface="DM Sans" pitchFamily="34" charset="-122"/>
                <a:cs typeface="DM Sans" pitchFamily="34" charset="-120"/>
              </a:rPr>
              <a:t> udføreren får personlige point</a:t>
            </a:r>
            <a:endParaRPr lang="en-US" sz="1400" dirty="0"/>
          </a:p>
        </p:txBody>
      </p:sp>
      <p:sp>
        <p:nvSpPr>
          <p:cNvPr id="5" name="Text 3"/>
          <p:cNvSpPr/>
          <p:nvPr/>
        </p:nvSpPr>
        <p:spPr>
          <a:xfrm>
            <a:off x="812800" y="3237905"/>
            <a:ext cx="4800727" cy="52308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A42"/>
                </a:solidFill>
                <a:latin typeface="DM Sans" pitchFamily="34" charset="0"/>
                <a:ea typeface="DM Sans" pitchFamily="34" charset="-122"/>
                <a:cs typeface="DM Sans" pitchFamily="34" charset="-120"/>
              </a:rPr>
              <a:t>Bytteopgave:</a:t>
            </a:r>
            <a:r>
              <a:rPr lang="en-US" sz="1400" dirty="0">
                <a:solidFill>
                  <a:srgbClr val="3A4A42"/>
                </a:solidFill>
                <a:latin typeface="DM Sans" pitchFamily="34" charset="0"/>
                <a:ea typeface="DM Sans" pitchFamily="34" charset="-122"/>
                <a:cs typeface="DM Sans" pitchFamily="34" charset="-120"/>
              </a:rPr>
              <a:t> udføreren får bestillerens betaling – bestilleren kan ikke vælges</a:t>
            </a:r>
            <a:endParaRPr lang="en-US" sz="1400" dirty="0"/>
          </a:p>
        </p:txBody>
      </p:sp>
      <p:sp>
        <p:nvSpPr>
          <p:cNvPr id="6" name="Text 4"/>
          <p:cNvSpPr/>
          <p:nvPr/>
        </p:nvSpPr>
        <p:spPr>
          <a:xfrm>
            <a:off x="812800" y="3824486"/>
            <a:ext cx="480072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A4A42"/>
                </a:solidFill>
                <a:latin typeface="DM Sans" pitchFamily="34" charset="0"/>
                <a:ea typeface="DM Sans" pitchFamily="34" charset="-122"/>
                <a:cs typeface="DM Sans" pitchFamily="34" charset="-120"/>
              </a:rPr>
              <a:t>Grønt tiltag:</a:t>
            </a:r>
            <a:r>
              <a:rPr lang="en-US" sz="1400" dirty="0">
                <a:solidFill>
                  <a:srgbClr val="3A4A42"/>
                </a:solidFill>
                <a:latin typeface="DM Sans" pitchFamily="34" charset="0"/>
                <a:ea typeface="DM Sans" pitchFamily="34" charset="-122"/>
                <a:cs typeface="DM Sans" pitchFamily="34" charset="-120"/>
              </a:rPr>
              <a:t> point til fællespuljen og hjemmesiden</a:t>
            </a:r>
            <a:endParaRPr lang="en-US" sz="1400" dirty="0"/>
          </a:p>
        </p:txBody>
      </p:sp>
      <p:sp>
        <p:nvSpPr>
          <p:cNvPr id="7" name="Text 5"/>
          <p:cNvSpPr/>
          <p:nvPr/>
        </p:nvSpPr>
        <p:spPr>
          <a:xfrm>
            <a:off x="812800" y="4225727"/>
            <a:ext cx="4660900" cy="502841"/>
          </a:xfrm>
          <a:prstGeom prst="roundRect">
            <a:avLst>
              <a:gd name="adj" fmla="val 15154"/>
            </a:avLst>
          </a:prstGeom>
          <a:solidFill>
            <a:srgbClr val="E4EDE5"/>
          </a:solidFill>
          <a:ln/>
        </p:spPr>
        <p:txBody>
          <a:bodyPr wrap="square" lIns="155482" tIns="104682" rIns="26323" bIns="79282" rtlCol="0" anchor="t">
            <a:normAutofit/>
          </a:bodyPr>
          <a:lstStyle/>
          <a:p>
            <a:pPr algn="l" indent="0" marL="0">
              <a:lnSpc>
                <a:spcPts val="1960"/>
              </a:lnSpc>
              <a:buNone/>
            </a:pPr>
            <a:r>
              <a:rPr lang="en-US" sz="1400" dirty="0">
                <a:solidFill>
                  <a:srgbClr val="1B3D2F"/>
                </a:solidFill>
                <a:latin typeface="DM Sans" pitchFamily="34" charset="0"/>
                <a:ea typeface="DM Sans" pitchFamily="34" charset="-122"/>
                <a:cs typeface="DM Sans" pitchFamily="34" charset="-120"/>
              </a:rPr>
              <a:t>Bagefter gemmes altid, og data.json skrives på ny.</a:t>
            </a:r>
            <a:endParaRPr lang="en-US" sz="1400" dirty="0"/>
          </a:p>
        </p:txBody>
      </p:sp>
      <p:sp>
        <p:nvSpPr>
          <p:cNvPr id="8" name="Shape 6"/>
          <p:cNvSpPr/>
          <p:nvPr/>
        </p:nvSpPr>
        <p:spPr>
          <a:xfrm>
            <a:off x="5832475" y="758825"/>
            <a:ext cx="5543550" cy="5137150"/>
          </a:xfrm>
          <a:prstGeom prst="roundRect">
            <a:avLst>
              <a:gd name="adj" fmla="val 1916"/>
            </a:avLst>
          </a:prstGeom>
          <a:solidFill>
            <a:srgbClr val="FFFFFC"/>
          </a:solidFill>
          <a:ln w="6350">
            <a:solidFill>
              <a:srgbClr val="D8E2DA"/>
            </a:solidFill>
            <a:prstDash val="solid"/>
          </a:ln>
        </p:spPr>
      </p:sp>
      <p:pic>
        <p:nvPicPr>
          <p:cNvPr id="9" name="Image 0" descr="Sekvensdiagram for UC19 Afslut opgave med alt-fragment for de tre opgavetyper">    </p:cNvPr>
          <p:cNvPicPr>
            <a:picLocks noChangeAspect="1"/>
          </p:cNvPicPr>
          <p:nvPr/>
        </p:nvPicPr>
        <p:blipFill>
          <a:blip r:embed="rId1"/>
          <a:srcRect l="-42" r="-42" t="0" b="0"/>
          <a:stretch/>
        </p:blipFill>
        <p:spPr>
          <a:xfrm>
            <a:off x="5937250" y="863600"/>
            <a:ext cx="5334000" cy="4927600"/>
          </a:xfrm>
          <a:prstGeom prst="rect">
            <a:avLst/>
          </a:prstGeom>
        </p:spPr>
      </p:pic>
      <p:sp>
        <p:nvSpPr>
          <p:cNvPr id="10" name="Text 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A71"/>
                </a:solidFill>
                <a:latin typeface="DM Sans" pitchFamily="34" charset="0"/>
                <a:ea typeface="DM Sans" pitchFamily="34" charset="-122"/>
                <a:cs typeface="DM Sans" pitchFamily="34" charset="-120"/>
              </a:rPr>
              <a:t>Kløverly · SEP1 reeksamen</a:t>
            </a:r>
            <a:endParaRPr lang="en-US" sz="1200" dirty="0"/>
          </a:p>
        </p:txBody>
      </p:sp>
      <p:sp>
        <p:nvSpPr>
          <p:cNvPr id="11" name="Text 8"/>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E6E8E"/>
                </a:solidFill>
                <a:latin typeface="DM Sans" pitchFamily="34" charset="0"/>
                <a:ea typeface="DM Sans" pitchFamily="34" charset="-122"/>
                <a:cs typeface="DM Sans" pitchFamily="34" charset="-120"/>
              </a:rPr>
              <a:t>Chadi</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E6E8E"/>
                </a:solidFill>
                <a:latin typeface="DM Sans" pitchFamily="34" charset="0"/>
                <a:ea typeface="DM Sans" pitchFamily="34" charset="-122"/>
                <a:cs typeface="DM Sans" pitchFamily="34" charset="-120"/>
              </a:rPr>
              <a:t>IMPLEMENTERING</a:t>
            </a:r>
            <a:endParaRPr lang="en-US" sz="1300" dirty="0"/>
          </a:p>
        </p:txBody>
      </p:sp>
      <p:sp>
        <p:nvSpPr>
          <p:cNvPr id="3" name="Text 1"/>
          <p:cNvSpPr/>
          <p:nvPr>
            <p:ph type="title"/>
          </p:nvPr>
        </p:nvSpPr>
        <p:spPr>
          <a:xfrm>
            <a:off x="812800" y="112008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B3D2F"/>
                </a:solidFill>
                <a:latin typeface="Domine" pitchFamily="18" charset="0"/>
                <a:ea typeface="Domine" pitchFamily="18" charset="-122"/>
                <a:cs typeface="Domine" pitchFamily="18" charset="-120"/>
              </a:rPr>
              <a:t>Reglen ligger i modellen</a:t>
            </a:r>
            <a:endParaRPr lang="en-US" sz="3600" dirty="0"/>
          </a:p>
        </p:txBody>
      </p:sp>
      <p:sp>
        <p:nvSpPr>
          <p:cNvPr id="4" name="Shape 2"/>
          <p:cNvSpPr/>
          <p:nvPr/>
        </p:nvSpPr>
        <p:spPr>
          <a:xfrm>
            <a:off x="812800" y="1925241"/>
            <a:ext cx="6223000" cy="3129756"/>
          </a:xfrm>
          <a:prstGeom prst="roundRect">
            <a:avLst>
              <a:gd name="adj" fmla="val 3246"/>
            </a:avLst>
          </a:prstGeom>
          <a:solidFill>
            <a:srgbClr val="1B3D2F"/>
          </a:solidFill>
          <a:ln/>
        </p:spPr>
      </p:sp>
      <p:sp>
        <p:nvSpPr>
          <p:cNvPr id="5" name="Text 3"/>
          <p:cNvSpPr/>
          <p:nvPr/>
        </p:nvSpPr>
        <p:spPr>
          <a:xfrm>
            <a:off x="1117600" y="2179241"/>
            <a:ext cx="5781802" cy="264716"/>
          </a:xfrm>
          <a:prstGeom prst="rect">
            <a:avLst/>
          </a:prstGeom>
          <a:noFill/>
          <a:ln/>
        </p:spPr>
        <p:txBody>
          <a:bodyPr wrap="none" lIns="0" tIns="0" rIns="0" bIns="0" rtlCol="0" anchor="t">
            <a:normAutofit/>
          </a:bodyPr>
          <a:lstStyle/>
          <a:p>
            <a:pPr algn="l" indent="0" marL="0">
              <a:lnSpc>
                <a:spcPts val="1885"/>
              </a:lnSpc>
              <a:buNone/>
            </a:pPr>
            <a:r>
              <a:rPr lang="en-US" sz="1300" dirty="0">
                <a:solidFill>
                  <a:srgbClr val="9CC9A8"/>
                </a:solidFill>
                <a:latin typeface="Courier New" pitchFamily="49" charset="0"/>
                <a:ea typeface="Courier New" pitchFamily="49" charset="-122"/>
                <a:cs typeface="Courier New" pitchFamily="49" charset="-120"/>
              </a:rPr>
              <a:t>public void tilføjOpgave(Opgave opgave) {</a:t>
            </a:r>
            <a:endParaRPr lang="en-US" sz="1300" dirty="0"/>
          </a:p>
        </p:txBody>
      </p:sp>
      <p:sp>
        <p:nvSpPr>
          <p:cNvPr id="6" name="Text 4"/>
          <p:cNvSpPr/>
          <p:nvPr/>
        </p:nvSpPr>
        <p:spPr>
          <a:xfrm>
            <a:off x="1117600" y="2443956"/>
            <a:ext cx="5781802" cy="264716"/>
          </a:xfrm>
          <a:prstGeom prst="rect">
            <a:avLst/>
          </a:prstGeom>
          <a:noFill/>
          <a:ln/>
        </p:spPr>
        <p:txBody>
          <a:bodyPr wrap="none" lIns="0" tIns="0" rIns="0" bIns="0" rtlCol="0" anchor="t">
            <a:normAutofit/>
          </a:bodyPr>
          <a:lstStyle/>
          <a:p>
            <a:pPr algn="l" indent="0" marL="0">
              <a:lnSpc>
                <a:spcPts val="1885"/>
              </a:lnSpc>
              <a:buNone/>
            </a:pPr>
            <a:r>
              <a:rPr lang="en-US" sz="1300" dirty="0">
                <a:solidFill>
                  <a:srgbClr val="DCE8DF"/>
                </a:solidFill>
                <a:latin typeface="Courier New" pitchFamily="49" charset="0"/>
                <a:ea typeface="Courier New" pitchFamily="49" charset="-122"/>
                <a:cs typeface="Courier New" pitchFamily="49" charset="-120"/>
              </a:rPr>
              <a:t>  if (opgave instanceof Bytteopgave) {</a:t>
            </a:r>
            <a:endParaRPr lang="en-US" sz="1300" dirty="0"/>
          </a:p>
        </p:txBody>
      </p:sp>
      <p:sp>
        <p:nvSpPr>
          <p:cNvPr id="7" name="Text 5"/>
          <p:cNvSpPr/>
          <p:nvPr/>
        </p:nvSpPr>
        <p:spPr>
          <a:xfrm>
            <a:off x="1117600" y="2708672"/>
            <a:ext cx="5781802" cy="264716"/>
          </a:xfrm>
          <a:prstGeom prst="rect">
            <a:avLst/>
          </a:prstGeom>
          <a:noFill/>
          <a:ln/>
        </p:spPr>
        <p:txBody>
          <a:bodyPr wrap="none" lIns="0" tIns="0" rIns="0" bIns="0" rtlCol="0" anchor="t">
            <a:normAutofit/>
          </a:bodyPr>
          <a:lstStyle/>
          <a:p>
            <a:pPr algn="l" indent="0" marL="0">
              <a:lnSpc>
                <a:spcPts val="1885"/>
              </a:lnSpc>
              <a:buNone/>
            </a:pPr>
            <a:r>
              <a:rPr lang="en-US" sz="1300" dirty="0">
                <a:solidFill>
                  <a:srgbClr val="DCE8DF"/>
                </a:solidFill>
                <a:latin typeface="Courier New" pitchFamily="49" charset="0"/>
                <a:ea typeface="Courier New" pitchFamily="49" charset="-122"/>
                <a:cs typeface="Courier New" pitchFamily="49" charset="-120"/>
              </a:rPr>
              <a:t>    int saldo = beregnPersonligePoint();</a:t>
            </a:r>
            <a:endParaRPr lang="en-US" sz="1300" dirty="0"/>
          </a:p>
        </p:txBody>
      </p:sp>
      <p:sp>
        <p:nvSpPr>
          <p:cNvPr id="8" name="Text 6"/>
          <p:cNvSpPr/>
          <p:nvPr/>
        </p:nvSpPr>
        <p:spPr>
          <a:xfrm>
            <a:off x="1117600" y="2973388"/>
            <a:ext cx="5781802" cy="264716"/>
          </a:xfrm>
          <a:prstGeom prst="rect">
            <a:avLst/>
          </a:prstGeom>
          <a:noFill/>
          <a:ln/>
        </p:spPr>
        <p:txBody>
          <a:bodyPr wrap="none" lIns="0" tIns="0" rIns="0" bIns="0" rtlCol="0" anchor="t">
            <a:normAutofit/>
          </a:bodyPr>
          <a:lstStyle/>
          <a:p>
            <a:pPr algn="l" indent="0" marL="0">
              <a:lnSpc>
                <a:spcPts val="1885"/>
              </a:lnSpc>
              <a:buNone/>
            </a:pPr>
            <a:r>
              <a:rPr lang="en-US" sz="1300" dirty="0">
                <a:solidFill>
                  <a:srgbClr val="DCE8DF"/>
                </a:solidFill>
                <a:latin typeface="Courier New" pitchFamily="49" charset="0"/>
                <a:ea typeface="Courier New" pitchFamily="49" charset="-122"/>
                <a:cs typeface="Courier New" pitchFamily="49" charset="-120"/>
              </a:rPr>
              <a:t>    if (opgave.getPoint() &gt; saldo)</a:t>
            </a:r>
            <a:endParaRPr lang="en-US" sz="1300" dirty="0"/>
          </a:p>
        </p:txBody>
      </p:sp>
      <p:sp>
        <p:nvSpPr>
          <p:cNvPr id="9" name="Text 7"/>
          <p:cNvSpPr/>
          <p:nvPr/>
        </p:nvSpPr>
        <p:spPr>
          <a:xfrm>
            <a:off x="1117600" y="3238103"/>
            <a:ext cx="5781802" cy="264716"/>
          </a:xfrm>
          <a:prstGeom prst="rect">
            <a:avLst/>
          </a:prstGeom>
          <a:noFill/>
          <a:ln/>
        </p:spPr>
        <p:txBody>
          <a:bodyPr wrap="none" lIns="0" tIns="0" rIns="0" bIns="0" rtlCol="0" anchor="t">
            <a:normAutofit/>
          </a:bodyPr>
          <a:lstStyle/>
          <a:p>
            <a:pPr algn="l" indent="0" marL="0">
              <a:lnSpc>
                <a:spcPts val="1885"/>
              </a:lnSpc>
              <a:buNone/>
            </a:pPr>
            <a:r>
              <a:rPr lang="en-US" sz="1300" dirty="0">
                <a:solidFill>
                  <a:srgbClr val="F2C46D"/>
                </a:solidFill>
                <a:latin typeface="Courier New" pitchFamily="49" charset="0"/>
                <a:ea typeface="Courier New" pitchFamily="49" charset="-122"/>
                <a:cs typeface="Courier New" pitchFamily="49" charset="-120"/>
              </a:rPr>
              <a:t>      throw new IllegalArgumentException(…);</a:t>
            </a:r>
            <a:endParaRPr lang="en-US" sz="1300" dirty="0"/>
          </a:p>
        </p:txBody>
      </p:sp>
      <p:sp>
        <p:nvSpPr>
          <p:cNvPr id="10" name="Text 8"/>
          <p:cNvSpPr/>
          <p:nvPr/>
        </p:nvSpPr>
        <p:spPr>
          <a:xfrm>
            <a:off x="1117600" y="3502819"/>
            <a:ext cx="5781802" cy="264716"/>
          </a:xfrm>
          <a:prstGeom prst="rect">
            <a:avLst/>
          </a:prstGeom>
          <a:noFill/>
          <a:ln/>
        </p:spPr>
        <p:txBody>
          <a:bodyPr wrap="none" lIns="0" tIns="0" rIns="0" bIns="0" rtlCol="0" anchor="t">
            <a:normAutofit/>
          </a:bodyPr>
          <a:lstStyle/>
          <a:p>
            <a:pPr algn="l" indent="0" marL="0">
              <a:lnSpc>
                <a:spcPts val="1885"/>
              </a:lnSpc>
              <a:buNone/>
            </a:pPr>
            <a:r>
              <a:rPr lang="en-US" sz="1300" dirty="0">
                <a:solidFill>
                  <a:srgbClr val="DCE8DF"/>
                </a:solidFill>
                <a:latin typeface="Courier New" pitchFamily="49" charset="0"/>
                <a:ea typeface="Courier New" pitchFamily="49" charset="-122"/>
                <a:cs typeface="Courier New" pitchFamily="49" charset="-120"/>
              </a:rPr>
              <a:t>    pointposteringer.add(new Pointpostering(</a:t>
            </a:r>
            <a:endParaRPr lang="en-US" sz="1300" dirty="0"/>
          </a:p>
        </p:txBody>
      </p:sp>
      <p:sp>
        <p:nvSpPr>
          <p:cNvPr id="11" name="Text 9"/>
          <p:cNvSpPr/>
          <p:nvPr/>
        </p:nvSpPr>
        <p:spPr>
          <a:xfrm>
            <a:off x="1117600" y="3767534"/>
            <a:ext cx="5781802" cy="264716"/>
          </a:xfrm>
          <a:prstGeom prst="rect">
            <a:avLst/>
          </a:prstGeom>
          <a:noFill/>
          <a:ln/>
        </p:spPr>
        <p:txBody>
          <a:bodyPr wrap="none" lIns="0" tIns="0" rIns="0" bIns="0" rtlCol="0" anchor="t">
            <a:normAutofit/>
          </a:bodyPr>
          <a:lstStyle/>
          <a:p>
            <a:pPr algn="l" indent="0" marL="0">
              <a:lnSpc>
                <a:spcPts val="1885"/>
              </a:lnSpc>
              <a:buNone/>
            </a:pPr>
            <a:r>
              <a:rPr lang="en-US" sz="1300" dirty="0">
                <a:solidFill>
                  <a:srgbClr val="DCE8DF"/>
                </a:solidFill>
                <a:latin typeface="Courier New" pitchFamily="49" charset="0"/>
                <a:ea typeface="Courier New" pitchFamily="49" charset="-122"/>
                <a:cs typeface="Courier New" pitchFamily="49" charset="-120"/>
              </a:rPr>
              <a:t>        dato, -opgave.getPoint(), …));</a:t>
            </a:r>
            <a:endParaRPr lang="en-US" sz="1300" dirty="0"/>
          </a:p>
        </p:txBody>
      </p:sp>
      <p:sp>
        <p:nvSpPr>
          <p:cNvPr id="12" name="Text 10"/>
          <p:cNvSpPr/>
          <p:nvPr/>
        </p:nvSpPr>
        <p:spPr>
          <a:xfrm>
            <a:off x="1117600" y="4032250"/>
            <a:ext cx="5781802" cy="264716"/>
          </a:xfrm>
          <a:prstGeom prst="rect">
            <a:avLst/>
          </a:prstGeom>
          <a:noFill/>
          <a:ln/>
        </p:spPr>
        <p:txBody>
          <a:bodyPr wrap="none" lIns="0" tIns="0" rIns="0" bIns="0" rtlCol="0" anchor="t">
            <a:normAutofit/>
          </a:bodyPr>
          <a:lstStyle/>
          <a:p>
            <a:pPr algn="l" indent="0" marL="0">
              <a:lnSpc>
                <a:spcPts val="1885"/>
              </a:lnSpc>
              <a:buNone/>
            </a:pPr>
            <a:r>
              <a:rPr lang="en-US" sz="1300" dirty="0">
                <a:solidFill>
                  <a:srgbClr val="DCE8DF"/>
                </a:solidFill>
                <a:latin typeface="Courier New" pitchFamily="49" charset="0"/>
                <a:ea typeface="Courier New" pitchFamily="49" charset="-122"/>
                <a:cs typeface="Courier New" pitchFamily="49" charset="-120"/>
              </a:rPr>
              <a:t>  }</a:t>
            </a:r>
            <a:endParaRPr lang="en-US" sz="1300" dirty="0"/>
          </a:p>
        </p:txBody>
      </p:sp>
      <p:sp>
        <p:nvSpPr>
          <p:cNvPr id="13" name="Text 11"/>
          <p:cNvSpPr/>
          <p:nvPr/>
        </p:nvSpPr>
        <p:spPr>
          <a:xfrm>
            <a:off x="1117600" y="4296966"/>
            <a:ext cx="5781802" cy="264716"/>
          </a:xfrm>
          <a:prstGeom prst="rect">
            <a:avLst/>
          </a:prstGeom>
          <a:noFill/>
          <a:ln/>
        </p:spPr>
        <p:txBody>
          <a:bodyPr wrap="none" lIns="0" tIns="0" rIns="0" bIns="0" rtlCol="0" anchor="t">
            <a:normAutofit/>
          </a:bodyPr>
          <a:lstStyle/>
          <a:p>
            <a:pPr algn="l" indent="0" marL="0">
              <a:lnSpc>
                <a:spcPts val="1885"/>
              </a:lnSpc>
              <a:buNone/>
            </a:pPr>
            <a:r>
              <a:rPr lang="en-US" sz="1300" dirty="0">
                <a:solidFill>
                  <a:srgbClr val="DCE8DF"/>
                </a:solidFill>
                <a:latin typeface="Courier New" pitchFamily="49" charset="0"/>
                <a:ea typeface="Courier New" pitchFamily="49" charset="-122"/>
                <a:cs typeface="Courier New" pitchFamily="49" charset="-120"/>
              </a:rPr>
              <a:t>  opgaver.add(opgave);</a:t>
            </a:r>
            <a:endParaRPr lang="en-US" sz="1300" dirty="0"/>
          </a:p>
        </p:txBody>
      </p:sp>
      <p:sp>
        <p:nvSpPr>
          <p:cNvPr id="14" name="Text 12"/>
          <p:cNvSpPr/>
          <p:nvPr/>
        </p:nvSpPr>
        <p:spPr>
          <a:xfrm>
            <a:off x="1117600" y="4561681"/>
            <a:ext cx="5781802" cy="264716"/>
          </a:xfrm>
          <a:prstGeom prst="rect">
            <a:avLst/>
          </a:prstGeom>
          <a:noFill/>
          <a:ln/>
        </p:spPr>
        <p:txBody>
          <a:bodyPr wrap="none" lIns="0" tIns="0" rIns="0" bIns="0" rtlCol="0" anchor="t">
            <a:normAutofit/>
          </a:bodyPr>
          <a:lstStyle/>
          <a:p>
            <a:pPr algn="l" indent="0" marL="0">
              <a:lnSpc>
                <a:spcPts val="1885"/>
              </a:lnSpc>
              <a:buNone/>
            </a:pPr>
            <a:r>
              <a:rPr lang="en-US" sz="1300" dirty="0">
                <a:solidFill>
                  <a:srgbClr val="9CC9A8"/>
                </a:solidFill>
                <a:latin typeface="Courier New" pitchFamily="49" charset="0"/>
                <a:ea typeface="Courier New" pitchFamily="49" charset="-122"/>
                <a:cs typeface="Courier New" pitchFamily="49" charset="-120"/>
              </a:rPr>
              <a:t>}</a:t>
            </a:r>
            <a:endParaRPr lang="en-US" sz="1300" dirty="0"/>
          </a:p>
        </p:txBody>
      </p:sp>
      <p:sp>
        <p:nvSpPr>
          <p:cNvPr id="15" name="Text 13"/>
          <p:cNvSpPr/>
          <p:nvPr/>
        </p:nvSpPr>
        <p:spPr>
          <a:xfrm>
            <a:off x="7340600" y="1925241"/>
            <a:ext cx="415975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A42"/>
                </a:solidFill>
                <a:latin typeface="DM Sans" pitchFamily="34" charset="0"/>
                <a:ea typeface="DM Sans" pitchFamily="34" charset="-122"/>
                <a:cs typeface="DM Sans" pitchFamily="34" charset="-120"/>
              </a:rPr>
              <a:t>Gælder overalt:</a:t>
            </a:r>
            <a:r>
              <a:rPr lang="en-US" sz="1500" dirty="0">
                <a:solidFill>
                  <a:srgbClr val="3A4A42"/>
                </a:solidFill>
                <a:latin typeface="DM Sans" pitchFamily="34" charset="0"/>
                <a:ea typeface="DM Sans" pitchFamily="34" charset="-122"/>
                <a:cs typeface="DM Sans" pitchFamily="34" charset="-120"/>
              </a:rPr>
              <a:t> uanset hvor i brugerfladen en bytteopgave oprettes</a:t>
            </a:r>
            <a:endParaRPr lang="en-US" sz="1500" dirty="0"/>
          </a:p>
        </p:txBody>
      </p:sp>
      <p:sp>
        <p:nvSpPr>
          <p:cNvPr id="16" name="Text 14"/>
          <p:cNvSpPr/>
          <p:nvPr/>
        </p:nvSpPr>
        <p:spPr>
          <a:xfrm>
            <a:off x="7340600" y="2585641"/>
            <a:ext cx="415975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A42"/>
                </a:solidFill>
                <a:latin typeface="DM Sans" pitchFamily="34" charset="0"/>
                <a:ea typeface="DM Sans" pitchFamily="34" charset="-122"/>
                <a:cs typeface="DM Sans" pitchFamily="34" charset="-120"/>
              </a:rPr>
              <a:t>Kan testes</a:t>
            </a:r>
            <a:r>
              <a:rPr lang="en-US" sz="1500" dirty="0">
                <a:solidFill>
                  <a:srgbClr val="3A4A42"/>
                </a:solidFill>
                <a:latin typeface="DM Sans" pitchFamily="34" charset="0"/>
                <a:ea typeface="DM Sans" pitchFamily="34" charset="-122"/>
                <a:cs typeface="DM Sans" pitchFamily="34" charset="-120"/>
              </a:rPr>
              <a:t> med JUnit uden brugerflade</a:t>
            </a:r>
            <a:endParaRPr lang="en-US" sz="1500" dirty="0"/>
          </a:p>
        </p:txBody>
      </p:sp>
      <p:sp>
        <p:nvSpPr>
          <p:cNvPr id="17" name="Text 15"/>
          <p:cNvSpPr/>
          <p:nvPr/>
        </p:nvSpPr>
        <p:spPr>
          <a:xfrm>
            <a:off x="7340600" y="2979341"/>
            <a:ext cx="4159758"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3A4A42"/>
                </a:solidFill>
                <a:latin typeface="DM Sans" pitchFamily="34" charset="0"/>
                <a:ea typeface="DM Sans" pitchFamily="34" charset="-122"/>
                <a:cs typeface="DM Sans" pitchFamily="34" charset="-120"/>
              </a:rPr>
              <a:t>Fejl bliver til en besked</a:t>
            </a:r>
            <a:r>
              <a:rPr lang="en-US" sz="1500" dirty="0">
                <a:solidFill>
                  <a:srgbClr val="3A4A42"/>
                </a:solidFill>
                <a:latin typeface="DM Sans" pitchFamily="34" charset="0"/>
                <a:ea typeface="DM Sans" pitchFamily="34" charset="-122"/>
                <a:cs typeface="DM Sans" pitchFamily="34" charset="-120"/>
              </a:rPr>
              <a:t> i en dialog – programmet lukker aldrig</a:t>
            </a:r>
            <a:endParaRPr lang="en-US" sz="1500" dirty="0"/>
          </a:p>
        </p:txBody>
      </p:sp>
      <p:sp>
        <p:nvSpPr>
          <p:cNvPr id="18" name="Text 16"/>
          <p:cNvSpPr/>
          <p:nvPr/>
        </p:nvSpPr>
        <p:spPr>
          <a:xfrm>
            <a:off x="7340600" y="3639741"/>
            <a:ext cx="4038600" cy="751681"/>
          </a:xfrm>
          <a:prstGeom prst="roundRect">
            <a:avLst>
              <a:gd name="adj" fmla="val 10137"/>
            </a:avLst>
          </a:prstGeom>
          <a:solidFill>
            <a:srgbClr val="F7EBD6"/>
          </a:solidFill>
          <a:ln/>
        </p:spPr>
        <p:txBody>
          <a:bodyPr wrap="square" lIns="130082" tIns="104682" rIns="18068" bIns="79282" rtlCol="0" anchor="t">
            <a:normAutofit/>
          </a:bodyPr>
          <a:lstStyle/>
          <a:p>
            <a:pPr algn="l" indent="0" marL="0">
              <a:lnSpc>
                <a:spcPts val="1960"/>
              </a:lnSpc>
              <a:buNone/>
            </a:pPr>
            <a:r>
              <a:rPr lang="en-US" sz="1400" dirty="0">
                <a:solidFill>
                  <a:srgbClr val="8A5A12"/>
                </a:solidFill>
                <a:latin typeface="DM Sans" pitchFamily="34" charset="0"/>
                <a:ea typeface="DM Sans" pitchFamily="34" charset="-122"/>
                <a:cs typeface="DM Sans" pitchFamily="34" charset="-120"/>
              </a:rPr>
              <a:t>Svaghed: reglerne for </a:t>
            </a:r>
            <a:r>
              <a:rPr lang="en-US" sz="1400" i="1" dirty="0">
                <a:solidFill>
                  <a:srgbClr val="8A5A12"/>
                </a:solidFill>
                <a:latin typeface="DM Sans" pitchFamily="34" charset="0"/>
                <a:ea typeface="DM Sans" pitchFamily="34" charset="-122"/>
                <a:cs typeface="DM Sans" pitchFamily="34" charset="-120"/>
              </a:rPr>
              <a:t>at afslutte</a:t>
            </a:r>
            <a:r>
              <a:rPr lang="en-US" sz="1400" dirty="0">
                <a:solidFill>
                  <a:srgbClr val="8A5A12"/>
                </a:solidFill>
                <a:latin typeface="DM Sans" pitchFamily="34" charset="0"/>
                <a:ea typeface="DM Sans" pitchFamily="34" charset="-122"/>
                <a:cs typeface="DM Sans" pitchFamily="34" charset="-120"/>
              </a:rPr>
              <a:t> ligger i controlleren</a:t>
            </a:r>
            <a:endParaRPr lang="en-US" sz="1400" dirty="0"/>
          </a:p>
        </p:txBody>
      </p:sp>
      <p:sp>
        <p:nvSpPr>
          <p:cNvPr id="19" name="Text 1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A71"/>
                </a:solidFill>
                <a:latin typeface="DM Sans" pitchFamily="34" charset="0"/>
                <a:ea typeface="DM Sans" pitchFamily="34" charset="-122"/>
                <a:cs typeface="DM Sans" pitchFamily="34" charset="-120"/>
              </a:rPr>
              <a:t>Kløverly · SEP1 reeksamen</a:t>
            </a:r>
            <a:endParaRPr lang="en-US" sz="1200" dirty="0"/>
          </a:p>
        </p:txBody>
      </p:sp>
      <p:sp>
        <p:nvSpPr>
          <p:cNvPr id="20" name="Text 18"/>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E6E8E"/>
                </a:solidFill>
                <a:latin typeface="DM Sans" pitchFamily="34" charset="0"/>
                <a:ea typeface="DM Sans" pitchFamily="34" charset="-122"/>
                <a:cs typeface="DM Sans" pitchFamily="34" charset="-120"/>
              </a:rPr>
              <a:t>Chadi</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1421904"/>
            <a:ext cx="4983861"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E6E8E"/>
                </a:solidFill>
                <a:latin typeface="DM Sans" pitchFamily="34" charset="0"/>
                <a:ea typeface="DM Sans" pitchFamily="34" charset="-122"/>
                <a:cs typeface="DM Sans" pitchFamily="34" charset="-120"/>
              </a:rPr>
              <a:t>HJEMMESIDE</a:t>
            </a:r>
            <a:endParaRPr lang="en-US" sz="1300" dirty="0"/>
          </a:p>
        </p:txBody>
      </p:sp>
      <p:sp>
        <p:nvSpPr>
          <p:cNvPr id="3" name="Text 1"/>
          <p:cNvSpPr/>
          <p:nvPr>
            <p:ph type="title"/>
          </p:nvPr>
        </p:nvSpPr>
        <p:spPr>
          <a:xfrm>
            <a:off x="812800" y="1830784"/>
            <a:ext cx="4983861" cy="901700"/>
          </a:xfrm>
          <a:prstGeom prst="rect">
            <a:avLst/>
          </a:prstGeom>
          <a:noFill/>
          <a:ln/>
        </p:spPr>
        <p:txBody>
          <a:bodyPr wrap="square" lIns="0" tIns="0" rIns="0" bIns="0" rtlCol="0" anchor="t">
            <a:normAutofit/>
          </a:bodyPr>
          <a:lstStyle/>
          <a:p>
            <a:pPr algn="l" indent="0" marL="0">
              <a:lnSpc>
                <a:spcPts val="3450"/>
              </a:lnSpc>
              <a:buNone/>
            </a:pPr>
            <a:r>
              <a:rPr lang="en-US" sz="3000" b="1" i="0" dirty="0">
                <a:solidFill>
                  <a:srgbClr val="1B3D2F"/>
                </a:solidFill>
                <a:latin typeface="Domine" pitchFamily="18" charset="0"/>
                <a:ea typeface="Domine" pitchFamily="18" charset="-122"/>
                <a:cs typeface="Domine" pitchFamily="18" charset="-120"/>
              </a:rPr>
              <a:t>Navne kommer aldrig med</a:t>
            </a:r>
            <a:endParaRPr lang="en-US" sz="3000" dirty="0"/>
          </a:p>
        </p:txBody>
      </p:sp>
      <p:sp>
        <p:nvSpPr>
          <p:cNvPr id="4" name="Text 2"/>
          <p:cNvSpPr/>
          <p:nvPr/>
        </p:nvSpPr>
        <p:spPr>
          <a:xfrm>
            <a:off x="815975" y="2888059"/>
            <a:ext cx="4832350" cy="500360"/>
          </a:xfrm>
          <a:prstGeom prst="roundRect">
            <a:avLst>
              <a:gd name="adj" fmla="val 14594"/>
            </a:avLst>
          </a:prstGeom>
          <a:solidFill>
            <a:srgbClr val="FFFFFC"/>
          </a:solidFill>
          <a:ln w="6350">
            <a:solidFill>
              <a:srgbClr val="D8E2DA"/>
            </a:solidFill>
            <a:prstDash val="solid"/>
          </a:ln>
        </p:spPr>
        <p:txBody>
          <a:bodyPr wrap="square" lIns="159587" tIns="108787" rIns="25475" bIns="83387" rtlCol="0" anchor="t">
            <a:normAutofit/>
          </a:bodyPr>
          <a:lstStyle/>
          <a:p>
            <a:pPr algn="l" indent="0" marL="0">
              <a:lnSpc>
                <a:spcPts val="1890"/>
              </a:lnSpc>
              <a:buNone/>
            </a:pPr>
            <a:r>
              <a:rPr lang="en-US" sz="1400" b="1" dirty="0">
                <a:solidFill>
                  <a:srgbClr val="1B3D2F"/>
                </a:solidFill>
                <a:latin typeface="DM Sans" pitchFamily="34" charset="0"/>
                <a:ea typeface="DM Sans" pitchFamily="34" charset="-122"/>
                <a:cs typeface="DM Sans" pitchFamily="34" charset="-120"/>
              </a:rPr>
              <a:t>1.</a:t>
            </a:r>
            <a:r>
              <a:rPr lang="en-US" sz="1400" dirty="0">
                <a:solidFill>
                  <a:srgbClr val="1B3D2F"/>
                </a:solidFill>
                <a:latin typeface="DM Sans" pitchFamily="34" charset="0"/>
                <a:ea typeface="DM Sans" pitchFamily="34" charset="-122"/>
                <a:cs typeface="DM Sans" pitchFamily="34" charset="-120"/>
              </a:rPr>
              <a:t> Programmet gemmer</a:t>
            </a:r>
            <a:endParaRPr lang="en-US" sz="1400" dirty="0"/>
          </a:p>
        </p:txBody>
      </p:sp>
      <p:sp>
        <p:nvSpPr>
          <p:cNvPr id="5" name="Text 3"/>
          <p:cNvSpPr/>
          <p:nvPr/>
        </p:nvSpPr>
        <p:spPr>
          <a:xfrm>
            <a:off x="815975" y="3470970"/>
            <a:ext cx="4832350" cy="500360"/>
          </a:xfrm>
          <a:prstGeom prst="roundRect">
            <a:avLst>
              <a:gd name="adj" fmla="val 14594"/>
            </a:avLst>
          </a:prstGeom>
          <a:solidFill>
            <a:srgbClr val="FFFFFC"/>
          </a:solidFill>
          <a:ln w="6350">
            <a:solidFill>
              <a:srgbClr val="D8E2DA"/>
            </a:solidFill>
            <a:prstDash val="solid"/>
          </a:ln>
        </p:spPr>
        <p:txBody>
          <a:bodyPr wrap="square" lIns="159587" tIns="108787" rIns="25475" bIns="83387" rtlCol="0" anchor="t">
            <a:normAutofit/>
          </a:bodyPr>
          <a:lstStyle/>
          <a:p>
            <a:pPr algn="l" indent="0" marL="0">
              <a:lnSpc>
                <a:spcPts val="1890"/>
              </a:lnSpc>
              <a:buNone/>
            </a:pPr>
            <a:r>
              <a:rPr lang="en-US" sz="1400" b="1" dirty="0">
                <a:solidFill>
                  <a:srgbClr val="1B3D2F"/>
                </a:solidFill>
                <a:latin typeface="DM Sans" pitchFamily="34" charset="0"/>
                <a:ea typeface="DM Sans" pitchFamily="34" charset="-122"/>
                <a:cs typeface="DM Sans" pitchFamily="34" charset="-120"/>
              </a:rPr>
              <a:t>2.</a:t>
            </a:r>
            <a:r>
              <a:rPr lang="en-US" sz="1400" dirty="0">
                <a:solidFill>
                  <a:srgbClr val="1B3D2F"/>
                </a:solidFill>
                <a:latin typeface="DM Sans" pitchFamily="34" charset="0"/>
                <a:ea typeface="DM Sans" pitchFamily="34" charset="-122"/>
                <a:cs typeface="DM Sans" pitchFamily="34" charset="-120"/>
              </a:rPr>
              <a:t> data.json: kun samlede tal og grønne tiltag</a:t>
            </a:r>
            <a:endParaRPr lang="en-US" sz="1400" dirty="0"/>
          </a:p>
        </p:txBody>
      </p:sp>
      <p:sp>
        <p:nvSpPr>
          <p:cNvPr id="6" name="Text 4"/>
          <p:cNvSpPr/>
          <p:nvPr/>
        </p:nvSpPr>
        <p:spPr>
          <a:xfrm>
            <a:off x="815975" y="4053880"/>
            <a:ext cx="4832350" cy="500360"/>
          </a:xfrm>
          <a:prstGeom prst="roundRect">
            <a:avLst>
              <a:gd name="adj" fmla="val 14594"/>
            </a:avLst>
          </a:prstGeom>
          <a:solidFill>
            <a:srgbClr val="FFFFFC"/>
          </a:solidFill>
          <a:ln w="6350">
            <a:solidFill>
              <a:srgbClr val="D8E2DA"/>
            </a:solidFill>
            <a:prstDash val="solid"/>
          </a:ln>
        </p:spPr>
        <p:txBody>
          <a:bodyPr wrap="square" lIns="159587" tIns="108787" rIns="25475" bIns="83387" rtlCol="0" anchor="t">
            <a:normAutofit/>
          </a:bodyPr>
          <a:lstStyle/>
          <a:p>
            <a:pPr algn="l" indent="0" marL="0">
              <a:lnSpc>
                <a:spcPts val="1890"/>
              </a:lnSpc>
              <a:buNone/>
            </a:pPr>
            <a:r>
              <a:rPr lang="en-US" sz="1400" b="1" dirty="0">
                <a:solidFill>
                  <a:srgbClr val="1B3D2F"/>
                </a:solidFill>
                <a:latin typeface="DM Sans" pitchFamily="34" charset="0"/>
                <a:ea typeface="DM Sans" pitchFamily="34" charset="-122"/>
                <a:cs typeface="DM Sans" pitchFamily="34" charset="-120"/>
              </a:rPr>
              <a:t>3.</a:t>
            </a:r>
            <a:r>
              <a:rPr lang="en-US" sz="1400" dirty="0">
                <a:solidFill>
                  <a:srgbClr val="1B3D2F"/>
                </a:solidFill>
                <a:latin typeface="DM Sans" pitchFamily="34" charset="0"/>
                <a:ea typeface="DM Sans" pitchFamily="34" charset="-122"/>
                <a:cs typeface="DM Sans" pitchFamily="34" charset="-120"/>
              </a:rPr>
              <a:t> kloeverly.js henter filen med fetch</a:t>
            </a:r>
            <a:endParaRPr lang="en-US" sz="1400" dirty="0"/>
          </a:p>
        </p:txBody>
      </p:sp>
      <p:sp>
        <p:nvSpPr>
          <p:cNvPr id="7" name="Text 5"/>
          <p:cNvSpPr/>
          <p:nvPr/>
        </p:nvSpPr>
        <p:spPr>
          <a:xfrm>
            <a:off x="812800" y="4735215"/>
            <a:ext cx="4983861"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42"/>
                </a:solidFill>
                <a:latin typeface="DM Sans" pitchFamily="34" charset="0"/>
                <a:ea typeface="DM Sans" pitchFamily="34" charset="-122"/>
                <a:cs typeface="DM Sans" pitchFamily="34" charset="-120"/>
              </a:rPr>
              <a:t>Anonymiteten ligger i datafilen, ikke kun i HTML’en (NFR06).</a:t>
            </a:r>
            <a:endParaRPr lang="en-US" sz="1400" dirty="0"/>
          </a:p>
        </p:txBody>
      </p:sp>
      <p:sp>
        <p:nvSpPr>
          <p:cNvPr id="8" name="Shape 6"/>
          <p:cNvSpPr/>
          <p:nvPr/>
        </p:nvSpPr>
        <p:spPr>
          <a:xfrm>
            <a:off x="6010275" y="968375"/>
            <a:ext cx="5365750" cy="4718050"/>
          </a:xfrm>
          <a:prstGeom prst="roundRect">
            <a:avLst>
              <a:gd name="adj" fmla="val 2086"/>
            </a:avLst>
          </a:prstGeom>
          <a:solidFill>
            <a:srgbClr val="FFFFFC"/>
          </a:solidFill>
          <a:ln w="6350">
            <a:solidFill>
              <a:srgbClr val="D8E2DA"/>
            </a:solidFill>
            <a:prstDash val="solid"/>
          </a:ln>
        </p:spPr>
      </p:sp>
      <p:pic>
        <p:nvPicPr>
          <p:cNvPr id="9" name="Image 0" descr="Hjemmesidens side med grønne tiltag: to kort med beskrivelse, dato og point, uden navne">    </p:cNvPr>
          <p:cNvPicPr>
            <a:picLocks noChangeAspect="1"/>
          </p:cNvPicPr>
          <p:nvPr/>
        </p:nvPicPr>
        <p:blipFill>
          <a:blip r:embed="rId1"/>
          <a:srcRect l="0" r="0" t="-35" b="-35"/>
          <a:stretch/>
        </p:blipFill>
        <p:spPr>
          <a:xfrm>
            <a:off x="6089650" y="1047750"/>
            <a:ext cx="5207000" cy="4559300"/>
          </a:xfrm>
          <a:prstGeom prst="rect">
            <a:avLst/>
          </a:prstGeom>
        </p:spPr>
      </p:pic>
      <p:sp>
        <p:nvSpPr>
          <p:cNvPr id="10" name="Text 7"/>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A71"/>
                </a:solidFill>
                <a:latin typeface="DM Sans" pitchFamily="34" charset="0"/>
                <a:ea typeface="DM Sans" pitchFamily="34" charset="-122"/>
                <a:cs typeface="DM Sans" pitchFamily="34" charset="-120"/>
              </a:rPr>
              <a:t>Kløverly · SEP1 reeksamen</a:t>
            </a:r>
            <a:endParaRPr lang="en-US" sz="1200" dirty="0"/>
          </a:p>
        </p:txBody>
      </p:sp>
      <p:sp>
        <p:nvSpPr>
          <p:cNvPr id="11" name="Text 8"/>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E6E8E"/>
                </a:solidFill>
                <a:latin typeface="DM Sans" pitchFamily="34" charset="0"/>
                <a:ea typeface="DM Sans" pitchFamily="34" charset="-122"/>
                <a:cs typeface="DM Sans" pitchFamily="34" charset="-120"/>
              </a:rPr>
              <a:t>Chadi</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3D2F"/>
        </a:solidFill>
      </p:bgPr>
    </p:bg>
    <p:spTree>
      <p:nvGrpSpPr>
        <p:cNvPr id="1" name=""/>
        <p:cNvGrpSpPr/>
        <p:nvPr/>
      </p:nvGrpSpPr>
      <p:grpSpPr>
        <a:xfrm>
          <a:off x="0" y="0"/>
          <a:ext cx="0" cy="0"/>
          <a:chOff x="0" y="0"/>
          <a:chExt cx="0" cy="0"/>
        </a:xfrm>
      </p:grpSpPr>
      <p:sp>
        <p:nvSpPr>
          <p:cNvPr id="2" name="Text 0"/>
          <p:cNvSpPr/>
          <p:nvPr/>
        </p:nvSpPr>
        <p:spPr>
          <a:xfrm>
            <a:off x="812800" y="178058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9CC9A8"/>
                </a:solidFill>
                <a:latin typeface="DM Sans" pitchFamily="34" charset="0"/>
                <a:ea typeface="DM Sans" pitchFamily="34" charset="-122"/>
                <a:cs typeface="DM Sans" pitchFamily="34" charset="-120"/>
              </a:rPr>
              <a:t>LIVE DEMO · 2 MINUTTER</a:t>
            </a:r>
            <a:endParaRPr lang="en-US" sz="1400" dirty="0"/>
          </a:p>
        </p:txBody>
      </p:sp>
      <p:sp>
        <p:nvSpPr>
          <p:cNvPr id="3" name="Text 1"/>
          <p:cNvSpPr/>
          <p:nvPr>
            <p:ph type="title"/>
          </p:nvPr>
        </p:nvSpPr>
        <p:spPr>
          <a:xfrm>
            <a:off x="812800" y="233422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4EE"/>
                </a:solidFill>
                <a:latin typeface="Domine" pitchFamily="18" charset="0"/>
                <a:ea typeface="Domine" pitchFamily="18" charset="-122"/>
                <a:cs typeface="Domine" pitchFamily="18" charset="-120"/>
              </a:rPr>
              <a:t>Lad os se det virke</a:t>
            </a:r>
            <a:endParaRPr lang="en-US" sz="4800" dirty="0"/>
          </a:p>
        </p:txBody>
      </p:sp>
      <p:sp>
        <p:nvSpPr>
          <p:cNvPr id="4" name="Shape 2"/>
          <p:cNvSpPr/>
          <p:nvPr/>
        </p:nvSpPr>
        <p:spPr>
          <a:xfrm>
            <a:off x="812800" y="3309541"/>
            <a:ext cx="3386634" cy="1564580"/>
          </a:xfrm>
          <a:prstGeom prst="roundRect">
            <a:avLst>
              <a:gd name="adj" fmla="val 6494"/>
            </a:avLst>
          </a:prstGeom>
          <a:solidFill>
            <a:srgbClr val="24503D"/>
          </a:solidFill>
          <a:ln/>
        </p:spPr>
      </p:sp>
      <p:sp>
        <p:nvSpPr>
          <p:cNvPr id="5" name="Text 3"/>
          <p:cNvSpPr/>
          <p:nvPr/>
        </p:nvSpPr>
        <p:spPr>
          <a:xfrm>
            <a:off x="1041400" y="3538141"/>
            <a:ext cx="3017317"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CC9A8"/>
                </a:solidFill>
                <a:latin typeface="Domine" pitchFamily="18" charset="0"/>
                <a:ea typeface="Domine" pitchFamily="18" charset="-122"/>
                <a:cs typeface="Domine" pitchFamily="18" charset="-120"/>
              </a:rPr>
              <a:t>1</a:t>
            </a:r>
            <a:endParaRPr lang="en-US" sz="2800" dirty="0"/>
          </a:p>
        </p:txBody>
      </p:sp>
      <p:sp>
        <p:nvSpPr>
          <p:cNvPr id="6" name="Text 4"/>
          <p:cNvSpPr/>
          <p:nvPr/>
        </p:nvSpPr>
        <p:spPr>
          <a:xfrm>
            <a:off x="1041400" y="4112121"/>
            <a:ext cx="301731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DM Sans" pitchFamily="34" charset="0"/>
                <a:ea typeface="DM Sans" pitchFamily="34" charset="-122"/>
                <a:cs typeface="DM Sans" pitchFamily="34" charset="-120"/>
              </a:rPr>
              <a:t>Opret en bytteopgave – bestillerens saldo falder</a:t>
            </a:r>
            <a:endParaRPr lang="en-US" sz="1500" dirty="0"/>
          </a:p>
        </p:txBody>
      </p:sp>
      <p:sp>
        <p:nvSpPr>
          <p:cNvPr id="7" name="Shape 5"/>
          <p:cNvSpPr/>
          <p:nvPr/>
        </p:nvSpPr>
        <p:spPr>
          <a:xfrm>
            <a:off x="4402634" y="3309541"/>
            <a:ext cx="3386733" cy="1564580"/>
          </a:xfrm>
          <a:prstGeom prst="roundRect">
            <a:avLst>
              <a:gd name="adj" fmla="val 6494"/>
            </a:avLst>
          </a:prstGeom>
          <a:solidFill>
            <a:srgbClr val="24503D"/>
          </a:solidFill>
          <a:ln/>
        </p:spPr>
      </p:sp>
      <p:sp>
        <p:nvSpPr>
          <p:cNvPr id="8" name="Text 6"/>
          <p:cNvSpPr/>
          <p:nvPr/>
        </p:nvSpPr>
        <p:spPr>
          <a:xfrm>
            <a:off x="4631234" y="3538141"/>
            <a:ext cx="3017419"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CC9A8"/>
                </a:solidFill>
                <a:latin typeface="Domine" pitchFamily="18" charset="0"/>
                <a:ea typeface="Domine" pitchFamily="18" charset="-122"/>
                <a:cs typeface="Domine" pitchFamily="18" charset="-120"/>
              </a:rPr>
              <a:t>2</a:t>
            </a:r>
            <a:endParaRPr lang="en-US" sz="2800" dirty="0"/>
          </a:p>
        </p:txBody>
      </p:sp>
      <p:sp>
        <p:nvSpPr>
          <p:cNvPr id="9" name="Text 7"/>
          <p:cNvSpPr/>
          <p:nvPr/>
        </p:nvSpPr>
        <p:spPr>
          <a:xfrm>
            <a:off x="4631234" y="4112121"/>
            <a:ext cx="301741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DM Sans" pitchFamily="34" charset="0"/>
                <a:ea typeface="DM Sans" pitchFamily="34" charset="-122"/>
                <a:cs typeface="DM Sans" pitchFamily="34" charset="-120"/>
              </a:rPr>
              <a:t>Afslut den – udføreren får pointene</a:t>
            </a:r>
            <a:endParaRPr lang="en-US" sz="1500" dirty="0"/>
          </a:p>
        </p:txBody>
      </p:sp>
      <p:sp>
        <p:nvSpPr>
          <p:cNvPr id="10" name="Shape 8"/>
          <p:cNvSpPr/>
          <p:nvPr/>
        </p:nvSpPr>
        <p:spPr>
          <a:xfrm>
            <a:off x="7992566" y="3309541"/>
            <a:ext cx="3386634" cy="1564580"/>
          </a:xfrm>
          <a:prstGeom prst="roundRect">
            <a:avLst>
              <a:gd name="adj" fmla="val 6494"/>
            </a:avLst>
          </a:prstGeom>
          <a:solidFill>
            <a:srgbClr val="24503D"/>
          </a:solidFill>
          <a:ln/>
        </p:spPr>
      </p:sp>
      <p:sp>
        <p:nvSpPr>
          <p:cNvPr id="11" name="Text 9"/>
          <p:cNvSpPr/>
          <p:nvPr/>
        </p:nvSpPr>
        <p:spPr>
          <a:xfrm>
            <a:off x="8221166" y="3538141"/>
            <a:ext cx="3017317" cy="52318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9CC9A8"/>
                </a:solidFill>
                <a:latin typeface="Domine" pitchFamily="18" charset="0"/>
                <a:ea typeface="Domine" pitchFamily="18" charset="-122"/>
                <a:cs typeface="Domine" pitchFamily="18" charset="-120"/>
              </a:rPr>
              <a:t>3</a:t>
            </a:r>
            <a:endParaRPr lang="en-US" sz="2800" dirty="0"/>
          </a:p>
        </p:txBody>
      </p:sp>
      <p:sp>
        <p:nvSpPr>
          <p:cNvPr id="12" name="Text 10"/>
          <p:cNvSpPr/>
          <p:nvPr/>
        </p:nvSpPr>
        <p:spPr>
          <a:xfrm>
            <a:off x="8221166" y="4112121"/>
            <a:ext cx="301731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DM Sans" pitchFamily="34" charset="0"/>
                <a:ea typeface="DM Sans" pitchFamily="34" charset="-122"/>
                <a:cs typeface="DM Sans" pitchFamily="34" charset="-120"/>
              </a:rPr>
              <a:t>Afslut et grønt tiltag – genindlæs hjemmesiden</a:t>
            </a:r>
            <a:endParaRPr lang="en-US" sz="1500" dirty="0"/>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C9A8"/>
                </a:solidFill>
                <a:latin typeface="DM Sans" pitchFamily="34" charset="0"/>
                <a:ea typeface="DM Sans" pitchFamily="34" charset="-122"/>
                <a:cs typeface="DM Sans" pitchFamily="34" charset="-120"/>
              </a:rPr>
              <a:t>Kløverly · SEP1 reeksamen</a:t>
            </a:r>
            <a:endParaRPr lang="en-US" sz="1200" dirty="0"/>
          </a:p>
        </p:txBody>
      </p:sp>
      <p:sp>
        <p:nvSpPr>
          <p:cNvPr id="14" name="Text 12"/>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9CC9A8"/>
                </a:solidFill>
                <a:latin typeface="DM Sans" pitchFamily="34" charset="0"/>
                <a:ea typeface="DM Sans" pitchFamily="34" charset="-122"/>
                <a:cs typeface="DM Sans" pitchFamily="34" charset="-120"/>
              </a:rPr>
              <a:t>Chadi</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E6E8E"/>
                </a:solidFill>
                <a:latin typeface="DM Sans" pitchFamily="34" charset="0"/>
                <a:ea typeface="DM Sans" pitchFamily="34" charset="-122"/>
                <a:cs typeface="DM Sans" pitchFamily="34" charset="-120"/>
              </a:rPr>
              <a:t>TEST</a:t>
            </a:r>
            <a:endParaRPr lang="en-US" sz="1300" dirty="0"/>
          </a:p>
        </p:txBody>
      </p:sp>
      <p:sp>
        <p:nvSpPr>
          <p:cNvPr id="3" name="Text 1"/>
          <p:cNvSpPr/>
          <p:nvPr>
            <p:ph type="title"/>
          </p:nvPr>
        </p:nvSpPr>
        <p:spPr>
          <a:xfrm>
            <a:off x="812800" y="112008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B3D2F"/>
                </a:solidFill>
                <a:latin typeface="Domine" pitchFamily="18" charset="0"/>
                <a:ea typeface="Domine" pitchFamily="18" charset="-122"/>
                <a:cs typeface="Domine" pitchFamily="18" charset="-120"/>
              </a:rPr>
              <a:t>Hvert krav har en test</a:t>
            </a:r>
            <a:endParaRPr lang="en-US" sz="3600" dirty="0"/>
          </a:p>
        </p:txBody>
      </p:sp>
      <p:sp>
        <p:nvSpPr>
          <p:cNvPr id="4" name="Shape 2"/>
          <p:cNvSpPr/>
          <p:nvPr/>
        </p:nvSpPr>
        <p:spPr>
          <a:xfrm>
            <a:off x="815975" y="1953816"/>
            <a:ext cx="2501900" cy="1634430"/>
          </a:xfrm>
          <a:prstGeom prst="roundRect">
            <a:avLst>
              <a:gd name="adj" fmla="val 6022"/>
            </a:avLst>
          </a:prstGeom>
          <a:solidFill>
            <a:srgbClr val="FFFFFC"/>
          </a:solidFill>
          <a:ln w="6350">
            <a:solidFill>
              <a:srgbClr val="D8E2DA"/>
            </a:solidFill>
            <a:prstDash val="solid"/>
          </a:ln>
        </p:spPr>
      </p:sp>
      <p:sp>
        <p:nvSpPr>
          <p:cNvPr id="5" name="Text 3"/>
          <p:cNvSpPr/>
          <p:nvPr/>
        </p:nvSpPr>
        <p:spPr>
          <a:xfrm>
            <a:off x="1047750" y="2185591"/>
            <a:ext cx="2099501"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3E8E5A"/>
                </a:solidFill>
                <a:latin typeface="Domine" pitchFamily="18" charset="0"/>
                <a:ea typeface="Domine" pitchFamily="18" charset="-122"/>
                <a:cs typeface="Domine" pitchFamily="18" charset="-120"/>
              </a:rPr>
              <a:t>11/11</a:t>
            </a:r>
            <a:endParaRPr lang="en-US" sz="3600" dirty="0"/>
          </a:p>
        </p:txBody>
      </p:sp>
      <p:sp>
        <p:nvSpPr>
          <p:cNvPr id="6" name="Text 4"/>
          <p:cNvSpPr/>
          <p:nvPr/>
        </p:nvSpPr>
        <p:spPr>
          <a:xfrm>
            <a:off x="1047750" y="2876451"/>
            <a:ext cx="209950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A42"/>
                </a:solidFill>
                <a:latin typeface="DM Sans" pitchFamily="34" charset="0"/>
                <a:ea typeface="DM Sans" pitchFamily="34" charset="-122"/>
                <a:cs typeface="DM Sans" pitchFamily="34" charset="-120"/>
              </a:rPr>
              <a:t>unittests af pointreglerne bestod</a:t>
            </a:r>
            <a:endParaRPr lang="en-US" sz="1400" dirty="0"/>
          </a:p>
        </p:txBody>
      </p:sp>
      <p:sp>
        <p:nvSpPr>
          <p:cNvPr id="7" name="Shape 5"/>
          <p:cNvSpPr/>
          <p:nvPr/>
        </p:nvSpPr>
        <p:spPr>
          <a:xfrm>
            <a:off x="3502025" y="1953816"/>
            <a:ext cx="2501900" cy="1634430"/>
          </a:xfrm>
          <a:prstGeom prst="roundRect">
            <a:avLst>
              <a:gd name="adj" fmla="val 6022"/>
            </a:avLst>
          </a:prstGeom>
          <a:solidFill>
            <a:srgbClr val="FFFFFC"/>
          </a:solidFill>
          <a:ln w="6350">
            <a:solidFill>
              <a:srgbClr val="D8E2DA"/>
            </a:solidFill>
            <a:prstDash val="solid"/>
          </a:ln>
        </p:spPr>
      </p:sp>
      <p:sp>
        <p:nvSpPr>
          <p:cNvPr id="8" name="Text 6"/>
          <p:cNvSpPr/>
          <p:nvPr/>
        </p:nvSpPr>
        <p:spPr>
          <a:xfrm>
            <a:off x="3733800" y="2185591"/>
            <a:ext cx="2099501"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3E8E5A"/>
                </a:solidFill>
                <a:latin typeface="Domine" pitchFamily="18" charset="0"/>
                <a:ea typeface="Domine" pitchFamily="18" charset="-122"/>
                <a:cs typeface="Domine" pitchFamily="18" charset="-120"/>
              </a:rPr>
              <a:t>15/15</a:t>
            </a:r>
            <a:endParaRPr lang="en-US" sz="3600" dirty="0"/>
          </a:p>
        </p:txBody>
      </p:sp>
      <p:sp>
        <p:nvSpPr>
          <p:cNvPr id="9" name="Text 7"/>
          <p:cNvSpPr/>
          <p:nvPr/>
        </p:nvSpPr>
        <p:spPr>
          <a:xfrm>
            <a:off x="3733800" y="2876451"/>
            <a:ext cx="209950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A42"/>
                </a:solidFill>
                <a:latin typeface="DM Sans" pitchFamily="34" charset="0"/>
                <a:ea typeface="DM Sans" pitchFamily="34" charset="-122"/>
                <a:cs typeface="DM Sans" pitchFamily="34" charset="-120"/>
              </a:rPr>
              <a:t>black box-tests gennem brugerfladen</a:t>
            </a:r>
            <a:endParaRPr lang="en-US" sz="1400" dirty="0"/>
          </a:p>
        </p:txBody>
      </p:sp>
      <p:sp>
        <p:nvSpPr>
          <p:cNvPr id="10" name="Shape 8"/>
          <p:cNvSpPr/>
          <p:nvPr/>
        </p:nvSpPr>
        <p:spPr>
          <a:xfrm>
            <a:off x="6188075" y="1953816"/>
            <a:ext cx="2501900" cy="1634430"/>
          </a:xfrm>
          <a:prstGeom prst="roundRect">
            <a:avLst>
              <a:gd name="adj" fmla="val 6022"/>
            </a:avLst>
          </a:prstGeom>
          <a:solidFill>
            <a:srgbClr val="FFFFFC"/>
          </a:solidFill>
          <a:ln w="6350">
            <a:solidFill>
              <a:srgbClr val="D8E2DA"/>
            </a:solidFill>
            <a:prstDash val="solid"/>
          </a:ln>
        </p:spPr>
      </p:sp>
      <p:sp>
        <p:nvSpPr>
          <p:cNvPr id="11" name="Text 9"/>
          <p:cNvSpPr/>
          <p:nvPr/>
        </p:nvSpPr>
        <p:spPr>
          <a:xfrm>
            <a:off x="6419850" y="2185591"/>
            <a:ext cx="2099501"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3E8E5A"/>
                </a:solidFill>
                <a:latin typeface="Domine" pitchFamily="18" charset="0"/>
                <a:ea typeface="Domine" pitchFamily="18" charset="-122"/>
                <a:cs typeface="Domine" pitchFamily="18" charset="-120"/>
              </a:rPr>
              <a:t>4/4</a:t>
            </a:r>
            <a:endParaRPr lang="en-US" sz="3600" dirty="0"/>
          </a:p>
        </p:txBody>
      </p:sp>
      <p:sp>
        <p:nvSpPr>
          <p:cNvPr id="12" name="Text 10"/>
          <p:cNvSpPr/>
          <p:nvPr/>
        </p:nvSpPr>
        <p:spPr>
          <a:xfrm>
            <a:off x="6419850" y="2876451"/>
            <a:ext cx="209950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A42"/>
                </a:solidFill>
                <a:latin typeface="DM Sans" pitchFamily="34" charset="0"/>
                <a:ea typeface="DM Sans" pitchFamily="34" charset="-122"/>
                <a:cs typeface="DM Sans" pitchFamily="34" charset="-120"/>
              </a:rPr>
              <a:t>tests af hjemmesiden</a:t>
            </a:r>
            <a:endParaRPr lang="en-US" sz="1400" dirty="0"/>
          </a:p>
        </p:txBody>
      </p:sp>
      <p:sp>
        <p:nvSpPr>
          <p:cNvPr id="13" name="Shape 11"/>
          <p:cNvSpPr/>
          <p:nvPr/>
        </p:nvSpPr>
        <p:spPr>
          <a:xfrm>
            <a:off x="8874125" y="1953816"/>
            <a:ext cx="2501900" cy="1634430"/>
          </a:xfrm>
          <a:prstGeom prst="roundRect">
            <a:avLst>
              <a:gd name="adj" fmla="val 6022"/>
            </a:avLst>
          </a:prstGeom>
          <a:solidFill>
            <a:srgbClr val="FFFFFC"/>
          </a:solidFill>
          <a:ln w="6350">
            <a:solidFill>
              <a:srgbClr val="D8E2DA"/>
            </a:solidFill>
            <a:prstDash val="solid"/>
          </a:ln>
        </p:spPr>
      </p:sp>
      <p:sp>
        <p:nvSpPr>
          <p:cNvPr id="14" name="Text 12"/>
          <p:cNvSpPr/>
          <p:nvPr/>
        </p:nvSpPr>
        <p:spPr>
          <a:xfrm>
            <a:off x="9105900" y="2185591"/>
            <a:ext cx="2099501"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3E8E5A"/>
                </a:solidFill>
                <a:latin typeface="Domine" pitchFamily="18" charset="0"/>
                <a:ea typeface="Domine" pitchFamily="18" charset="-122"/>
                <a:cs typeface="Domine" pitchFamily="18" charset="-120"/>
              </a:rPr>
              <a:t>6</a:t>
            </a:r>
            <a:endParaRPr lang="en-US" sz="3600" dirty="0"/>
          </a:p>
        </p:txBody>
      </p:sp>
      <p:sp>
        <p:nvSpPr>
          <p:cNvPr id="15" name="Text 13"/>
          <p:cNvSpPr/>
          <p:nvPr/>
        </p:nvSpPr>
        <p:spPr>
          <a:xfrm>
            <a:off x="9105900" y="2876451"/>
            <a:ext cx="209950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A4A42"/>
                </a:solidFill>
                <a:latin typeface="DM Sans" pitchFamily="34" charset="0"/>
                <a:ea typeface="DM Sans" pitchFamily="34" charset="-122"/>
                <a:cs typeface="DM Sans" pitchFamily="34" charset="-120"/>
              </a:rPr>
              <a:t>ikke-funktionelle krav testet</a:t>
            </a:r>
            <a:endParaRPr lang="en-US" sz="1400" dirty="0"/>
          </a:p>
        </p:txBody>
      </p:sp>
      <p:sp>
        <p:nvSpPr>
          <p:cNvPr id="16" name="Text 14"/>
          <p:cNvSpPr/>
          <p:nvPr/>
        </p:nvSpPr>
        <p:spPr>
          <a:xfrm>
            <a:off x="812800" y="3896221"/>
            <a:ext cx="5194300" cy="802481"/>
          </a:xfrm>
          <a:prstGeom prst="roundRect">
            <a:avLst>
              <a:gd name="adj" fmla="val 9496"/>
            </a:avLst>
          </a:prstGeom>
          <a:solidFill>
            <a:srgbClr val="E4EDE5"/>
          </a:solidFill>
          <a:ln/>
        </p:spPr>
        <p:txBody>
          <a:bodyPr wrap="square" lIns="180882" tIns="130082" rIns="37245" bIns="104682" rtlCol="0" anchor="t">
            <a:normAutofit/>
          </a:bodyPr>
          <a:lstStyle/>
          <a:p>
            <a:pPr algn="l" indent="0" marL="0">
              <a:lnSpc>
                <a:spcPts val="1960"/>
              </a:lnSpc>
              <a:buNone/>
            </a:pPr>
            <a:r>
              <a:rPr lang="en-US" sz="1400" dirty="0">
                <a:solidFill>
                  <a:srgbClr val="1B3D2F"/>
                </a:solidFill>
                <a:latin typeface="DM Sans" pitchFamily="34" charset="0"/>
                <a:ea typeface="DM Sans" pitchFamily="34" charset="-122"/>
                <a:cs typeface="DM Sans" pitchFamily="34" charset="-120"/>
              </a:rPr>
              <a:t>Testdata rammer grænserne: Hanne med 20 point bestiller for 10 (godkendt), derefter for 50 (afvist).</a:t>
            </a:r>
            <a:endParaRPr lang="en-US" sz="1400" dirty="0"/>
          </a:p>
        </p:txBody>
      </p:sp>
      <p:sp>
        <p:nvSpPr>
          <p:cNvPr id="17" name="Text 15"/>
          <p:cNvSpPr/>
          <p:nvPr/>
        </p:nvSpPr>
        <p:spPr>
          <a:xfrm>
            <a:off x="6184900" y="3896221"/>
            <a:ext cx="5194300" cy="802481"/>
          </a:xfrm>
          <a:prstGeom prst="roundRect">
            <a:avLst>
              <a:gd name="adj" fmla="val 9496"/>
            </a:avLst>
          </a:prstGeom>
          <a:solidFill>
            <a:srgbClr val="F7EBD6"/>
          </a:solidFill>
          <a:ln/>
        </p:spPr>
        <p:txBody>
          <a:bodyPr wrap="square" lIns="180882" tIns="130082" rIns="37245" bIns="104682" rtlCol="0" anchor="t">
            <a:normAutofit/>
          </a:bodyPr>
          <a:lstStyle/>
          <a:p>
            <a:pPr algn="l" indent="0" marL="0">
              <a:lnSpc>
                <a:spcPts val="1960"/>
              </a:lnSpc>
              <a:buNone/>
            </a:pPr>
            <a:r>
              <a:rPr lang="en-US" sz="1400" dirty="0">
                <a:solidFill>
                  <a:srgbClr val="8A5A12"/>
                </a:solidFill>
                <a:latin typeface="DM Sans" pitchFamily="34" charset="0"/>
                <a:ea typeface="DM Sans" pitchFamily="34" charset="-122"/>
                <a:cs typeface="DM Sans" pitchFamily="34" charset="-120"/>
              </a:rPr>
              <a:t>Begrænsning: ikke afprøvet af Bob eller andre rigtige brugere.</a:t>
            </a:r>
            <a:endParaRPr lang="en-US" sz="1400" dirty="0"/>
          </a:p>
        </p:txBody>
      </p:sp>
      <p:sp>
        <p:nvSpPr>
          <p:cNvPr id="18"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A71"/>
                </a:solidFill>
                <a:latin typeface="DM Sans" pitchFamily="34" charset="0"/>
                <a:ea typeface="DM Sans" pitchFamily="34" charset="-122"/>
                <a:cs typeface="DM Sans" pitchFamily="34" charset="-120"/>
              </a:rPr>
              <a:t>Kløverly · SEP1 reeksamen</a:t>
            </a:r>
            <a:endParaRPr lang="en-US" sz="1200" dirty="0"/>
          </a:p>
        </p:txBody>
      </p:sp>
      <p:sp>
        <p:nvSpPr>
          <p:cNvPr id="19" name="Text 17"/>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2E6E8E"/>
                </a:solidFill>
                <a:latin typeface="DM Sans" pitchFamily="34" charset="0"/>
                <a:ea typeface="DM Sans" pitchFamily="34" charset="-122"/>
                <a:cs typeface="DM Sans" pitchFamily="34" charset="-120"/>
              </a:rPr>
              <a:t>Chadi</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9EFE8"/>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3E8E5A"/>
                </a:solidFill>
                <a:latin typeface="DM Sans" pitchFamily="34" charset="0"/>
                <a:ea typeface="DM Sans" pitchFamily="34" charset="-122"/>
                <a:cs typeface="DM Sans" pitchFamily="34" charset="-120"/>
              </a:rPr>
              <a:t>REFLEKSION</a:t>
            </a:r>
            <a:endParaRPr lang="en-US" sz="1300" dirty="0"/>
          </a:p>
        </p:txBody>
      </p:sp>
      <p:sp>
        <p:nvSpPr>
          <p:cNvPr id="3" name="Text 1"/>
          <p:cNvSpPr/>
          <p:nvPr>
            <p:ph type="title"/>
          </p:nvPr>
        </p:nvSpPr>
        <p:spPr>
          <a:xfrm>
            <a:off x="812800" y="112008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1B3D2F"/>
                </a:solidFill>
                <a:latin typeface="Domine" pitchFamily="18" charset="0"/>
                <a:ea typeface="Domine" pitchFamily="18" charset="-122"/>
                <a:cs typeface="Domine" pitchFamily="18" charset="-120"/>
              </a:rPr>
              <a:t>Det tager vi med videre</a:t>
            </a:r>
            <a:endParaRPr lang="en-US" sz="3600" dirty="0"/>
          </a:p>
        </p:txBody>
      </p:sp>
      <p:sp>
        <p:nvSpPr>
          <p:cNvPr id="4" name="Shape 2"/>
          <p:cNvSpPr/>
          <p:nvPr/>
        </p:nvSpPr>
        <p:spPr>
          <a:xfrm>
            <a:off x="812800" y="1925241"/>
            <a:ext cx="5207000" cy="1226641"/>
          </a:xfrm>
          <a:prstGeom prst="roundRect">
            <a:avLst>
              <a:gd name="adj" fmla="val 8283"/>
            </a:avLst>
          </a:prstGeom>
          <a:solidFill>
            <a:srgbClr val="FFFFFC"/>
          </a:solidFill>
          <a:ln/>
        </p:spPr>
      </p:sp>
      <p:sp>
        <p:nvSpPr>
          <p:cNvPr id="5" name="Text 3"/>
          <p:cNvSpPr/>
          <p:nvPr/>
        </p:nvSpPr>
        <p:spPr>
          <a:xfrm>
            <a:off x="1016000" y="2128441"/>
            <a:ext cx="494461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3D2F"/>
                </a:solidFill>
                <a:latin typeface="DM Sans" pitchFamily="34" charset="0"/>
                <a:ea typeface="DM Sans" pitchFamily="34" charset="-122"/>
                <a:cs typeface="DM Sans" pitchFamily="34" charset="-120"/>
              </a:rPr>
              <a:t>Arbejdsdeling og ejerskab</a:t>
            </a:r>
            <a:endParaRPr lang="en-US" sz="1700" dirty="0"/>
          </a:p>
        </p:txBody>
      </p:sp>
      <p:sp>
        <p:nvSpPr>
          <p:cNvPr id="6" name="Text 4"/>
          <p:cNvSpPr/>
          <p:nvPr/>
        </p:nvSpPr>
        <p:spPr>
          <a:xfrm>
            <a:off x="1016000" y="2451001"/>
            <a:ext cx="494461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42"/>
                </a:solidFill>
                <a:latin typeface="DM Sans" pitchFamily="34" charset="0"/>
                <a:ea typeface="DM Sans" pitchFamily="34" charset="-122"/>
                <a:cs typeface="DM Sans" pitchFamily="34" charset="-120"/>
              </a:rPr>
              <a:t>Delingen gav fart, men kun fælles gennemgang gav forståelse af hele projektet.</a:t>
            </a:r>
            <a:endParaRPr lang="en-US" sz="1400" dirty="0"/>
          </a:p>
        </p:txBody>
      </p:sp>
      <p:sp>
        <p:nvSpPr>
          <p:cNvPr id="7" name="Shape 5"/>
          <p:cNvSpPr/>
          <p:nvPr/>
        </p:nvSpPr>
        <p:spPr>
          <a:xfrm>
            <a:off x="6172200" y="1925241"/>
            <a:ext cx="5207000" cy="1226641"/>
          </a:xfrm>
          <a:prstGeom prst="roundRect">
            <a:avLst>
              <a:gd name="adj" fmla="val 8283"/>
            </a:avLst>
          </a:prstGeom>
          <a:solidFill>
            <a:srgbClr val="FFFFFC"/>
          </a:solidFill>
          <a:ln/>
        </p:spPr>
      </p:sp>
      <p:sp>
        <p:nvSpPr>
          <p:cNvPr id="8" name="Text 6"/>
          <p:cNvSpPr/>
          <p:nvPr/>
        </p:nvSpPr>
        <p:spPr>
          <a:xfrm>
            <a:off x="6375400" y="2128441"/>
            <a:ext cx="494461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3D2F"/>
                </a:solidFill>
                <a:latin typeface="DM Sans" pitchFamily="34" charset="0"/>
                <a:ea typeface="DM Sans" pitchFamily="34" charset="-122"/>
                <a:cs typeface="DM Sans" pitchFamily="34" charset="-120"/>
              </a:rPr>
              <a:t>Generativ AI</a:t>
            </a:r>
            <a:endParaRPr lang="en-US" sz="1700" dirty="0"/>
          </a:p>
        </p:txBody>
      </p:sp>
      <p:sp>
        <p:nvSpPr>
          <p:cNvPr id="9" name="Text 7"/>
          <p:cNvSpPr/>
          <p:nvPr/>
        </p:nvSpPr>
        <p:spPr>
          <a:xfrm>
            <a:off x="6375400" y="2451001"/>
            <a:ext cx="494461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42"/>
                </a:solidFill>
                <a:latin typeface="DM Sans" pitchFamily="34" charset="0"/>
                <a:ea typeface="DM Sans" pitchFamily="34" charset="-122"/>
                <a:cs typeface="DM Sans" pitchFamily="34" charset="-120"/>
              </a:rPr>
              <a:t>Hjalp os at nå det på en uge – fejlene blev fundet ved at sammenligne diagrammer, kode og test.</a:t>
            </a:r>
            <a:endParaRPr lang="en-US" sz="1400" dirty="0"/>
          </a:p>
        </p:txBody>
      </p:sp>
      <p:sp>
        <p:nvSpPr>
          <p:cNvPr id="10" name="Shape 8"/>
          <p:cNvSpPr/>
          <p:nvPr/>
        </p:nvSpPr>
        <p:spPr>
          <a:xfrm>
            <a:off x="812800" y="3304282"/>
            <a:ext cx="5207000" cy="1226641"/>
          </a:xfrm>
          <a:prstGeom prst="roundRect">
            <a:avLst>
              <a:gd name="adj" fmla="val 8283"/>
            </a:avLst>
          </a:prstGeom>
          <a:solidFill>
            <a:srgbClr val="FFFFFC"/>
          </a:solidFill>
          <a:ln/>
        </p:spPr>
      </p:sp>
      <p:sp>
        <p:nvSpPr>
          <p:cNvPr id="11" name="Text 9"/>
          <p:cNvSpPr/>
          <p:nvPr/>
        </p:nvSpPr>
        <p:spPr>
          <a:xfrm>
            <a:off x="1016000" y="3507482"/>
            <a:ext cx="494461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3D2F"/>
                </a:solidFill>
                <a:latin typeface="DM Sans" pitchFamily="34" charset="0"/>
                <a:ea typeface="DM Sans" pitchFamily="34" charset="-122"/>
                <a:cs typeface="DM Sans" pitchFamily="34" charset="-120"/>
              </a:rPr>
              <a:t>Git</a:t>
            </a:r>
            <a:endParaRPr lang="en-US" sz="1700" dirty="0"/>
          </a:p>
        </p:txBody>
      </p:sp>
      <p:sp>
        <p:nvSpPr>
          <p:cNvPr id="12" name="Text 10"/>
          <p:cNvSpPr/>
          <p:nvPr/>
        </p:nvSpPr>
        <p:spPr>
          <a:xfrm>
            <a:off x="1016000" y="3830042"/>
            <a:ext cx="494461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42"/>
                </a:solidFill>
                <a:latin typeface="DM Sans" pitchFamily="34" charset="0"/>
                <a:ea typeface="DM Sans" pitchFamily="34" charset="-122"/>
                <a:cs typeface="DM Sans" pitchFamily="34" charset="-120"/>
              </a:rPr>
              <a:t>Astah-filen blev overskrevet ved en sammenfletning. Aftal, hvem der arbejder i hvilke filer.</a:t>
            </a:r>
            <a:endParaRPr lang="en-US" sz="1400" dirty="0"/>
          </a:p>
        </p:txBody>
      </p:sp>
      <p:sp>
        <p:nvSpPr>
          <p:cNvPr id="13" name="Shape 11"/>
          <p:cNvSpPr/>
          <p:nvPr/>
        </p:nvSpPr>
        <p:spPr>
          <a:xfrm>
            <a:off x="6172200" y="3304282"/>
            <a:ext cx="5207000" cy="1226641"/>
          </a:xfrm>
          <a:prstGeom prst="roundRect">
            <a:avLst>
              <a:gd name="adj" fmla="val 8283"/>
            </a:avLst>
          </a:prstGeom>
          <a:solidFill>
            <a:srgbClr val="FFFFFC"/>
          </a:solidFill>
          <a:ln/>
        </p:spPr>
      </p:sp>
      <p:sp>
        <p:nvSpPr>
          <p:cNvPr id="14" name="Text 12"/>
          <p:cNvSpPr/>
          <p:nvPr/>
        </p:nvSpPr>
        <p:spPr>
          <a:xfrm>
            <a:off x="6375400" y="3507482"/>
            <a:ext cx="494461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B3D2F"/>
                </a:solidFill>
                <a:latin typeface="DM Sans" pitchFamily="34" charset="0"/>
                <a:ea typeface="DM Sans" pitchFamily="34" charset="-122"/>
                <a:cs typeface="DM Sans" pitchFamily="34" charset="-120"/>
              </a:rPr>
              <a:t>Konflikter</a:t>
            </a:r>
            <a:endParaRPr lang="en-US" sz="1700" dirty="0"/>
          </a:p>
        </p:txBody>
      </p:sp>
      <p:sp>
        <p:nvSpPr>
          <p:cNvPr id="15" name="Text 13"/>
          <p:cNvSpPr/>
          <p:nvPr/>
        </p:nvSpPr>
        <p:spPr>
          <a:xfrm>
            <a:off x="6375400" y="3830042"/>
            <a:ext cx="4944618"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A42"/>
                </a:solidFill>
                <a:latin typeface="DM Sans" pitchFamily="34" charset="0"/>
                <a:ea typeface="DM Sans" pitchFamily="34" charset="-122"/>
                <a:cs typeface="DM Sans" pitchFamily="34" charset="-120"/>
              </a:rPr>
              <a:t>Uenigheden om at starte forfra blev løst på sagen – tag bekymringer op tidligt.</a:t>
            </a:r>
            <a:endParaRPr lang="en-US" sz="1400" dirty="0"/>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A71"/>
                </a:solidFill>
                <a:latin typeface="DM Sans" pitchFamily="34" charset="0"/>
                <a:ea typeface="DM Sans" pitchFamily="34" charset="-122"/>
                <a:cs typeface="DM Sans" pitchFamily="34" charset="-120"/>
              </a:rPr>
              <a:t>Kløverly · SEP1 reeksamen</a:t>
            </a:r>
            <a:endParaRPr lang="en-US" sz="1200" dirty="0"/>
          </a:p>
        </p:txBody>
      </p:sp>
      <p:sp>
        <p:nvSpPr>
          <p:cNvPr id="17" name="Text 15"/>
          <p:cNvSpPr/>
          <p:nvPr/>
        </p:nvSpPr>
        <p:spPr>
          <a:xfrm>
            <a:off x="8632190" y="6238280"/>
            <a:ext cx="274701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3E8E5A"/>
                </a:solidFill>
                <a:latin typeface="DM Sans" pitchFamily="34" charset="0"/>
                <a:ea typeface="DM Sans" pitchFamily="34" charset="-122"/>
                <a:cs typeface="DM Sans" pitchFamily="34" charset="-120"/>
              </a:rPr>
              <a:t>Chadi og Mehmet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3D2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9CC9A8"/>
                </a:solidFill>
                <a:latin typeface="DM Sans" pitchFamily="34" charset="0"/>
                <a:ea typeface="DM Sans" pitchFamily="34" charset="-122"/>
                <a:cs typeface="DM Sans" pitchFamily="34" charset="-120"/>
              </a:rPr>
              <a:t>KONKLUSION</a:t>
            </a:r>
            <a:endParaRPr lang="en-US" sz="1300" dirty="0"/>
          </a:p>
        </p:txBody>
      </p:sp>
      <p:sp>
        <p:nvSpPr>
          <p:cNvPr id="3" name="Text 1"/>
          <p:cNvSpPr/>
          <p:nvPr>
            <p:ph type="title"/>
          </p:nvPr>
        </p:nvSpPr>
        <p:spPr>
          <a:xfrm>
            <a:off x="812800" y="112008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6F4EE"/>
                </a:solidFill>
                <a:latin typeface="Domine" pitchFamily="18" charset="0"/>
                <a:ea typeface="Domine" pitchFamily="18" charset="-122"/>
                <a:cs typeface="Domine" pitchFamily="18" charset="-120"/>
              </a:rPr>
              <a:t>Systemet løser Bobs kerneproblem</a:t>
            </a:r>
            <a:endParaRPr lang="en-US" sz="3600" dirty="0"/>
          </a:p>
        </p:txBody>
      </p:sp>
      <p:sp>
        <p:nvSpPr>
          <p:cNvPr id="4" name="Text 2"/>
          <p:cNvSpPr/>
          <p:nvPr/>
        </p:nvSpPr>
        <p:spPr>
          <a:xfrm>
            <a:off x="812800" y="1925241"/>
            <a:ext cx="507542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CE8DF"/>
                </a:solidFill>
                <a:latin typeface="DM Sans" pitchFamily="34" charset="0"/>
                <a:ea typeface="DM Sans" pitchFamily="34" charset="-122"/>
                <a:cs typeface="DM Sans" pitchFamily="34" charset="-120"/>
              </a:rPr>
              <a:t>✓ Tre opgavetyper og to slags point – saldoen bliver aldrig negativ</a:t>
            </a:r>
            <a:endParaRPr lang="en-US" sz="1500" dirty="0"/>
          </a:p>
        </p:txBody>
      </p:sp>
      <p:sp>
        <p:nvSpPr>
          <p:cNvPr id="5" name="Text 3"/>
          <p:cNvSpPr/>
          <p:nvPr/>
        </p:nvSpPr>
        <p:spPr>
          <a:xfrm>
            <a:off x="812800" y="2560241"/>
            <a:ext cx="507542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CE8DF"/>
                </a:solidFill>
                <a:latin typeface="DM Sans" pitchFamily="34" charset="0"/>
                <a:ea typeface="DM Sans" pitchFamily="34" charset="-122"/>
                <a:cs typeface="DM Sans" pitchFamily="34" charset="-120"/>
              </a:rPr>
              <a:t>✓ Grønne tiltag på hjemmesiden uden navne</a:t>
            </a:r>
            <a:endParaRPr lang="en-US" sz="1500" dirty="0"/>
          </a:p>
        </p:txBody>
      </p:sp>
      <p:sp>
        <p:nvSpPr>
          <p:cNvPr id="6" name="Text 4"/>
          <p:cNvSpPr/>
          <p:nvPr/>
        </p:nvSpPr>
        <p:spPr>
          <a:xfrm>
            <a:off x="812800" y="2928541"/>
            <a:ext cx="507542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DCE8DF"/>
                </a:solidFill>
                <a:latin typeface="DM Sans" pitchFamily="34" charset="0"/>
                <a:ea typeface="DM Sans" pitchFamily="34" charset="-122"/>
                <a:cs typeface="DM Sans" pitchFamily="34" charset="-120"/>
              </a:rPr>
              <a:t>✓ Hvert krav sporet til en bestået test</a:t>
            </a:r>
            <a:endParaRPr lang="en-US" sz="1500" dirty="0"/>
          </a:p>
        </p:txBody>
      </p:sp>
      <p:sp>
        <p:nvSpPr>
          <p:cNvPr id="7" name="Shape 5"/>
          <p:cNvSpPr/>
          <p:nvPr/>
        </p:nvSpPr>
        <p:spPr>
          <a:xfrm>
            <a:off x="5994400" y="1925241"/>
            <a:ext cx="5384800" cy="1617960"/>
          </a:xfrm>
          <a:prstGeom prst="roundRect">
            <a:avLst>
              <a:gd name="adj" fmla="val 6280"/>
            </a:avLst>
          </a:prstGeom>
          <a:solidFill>
            <a:srgbClr val="24503D"/>
          </a:solidFill>
          <a:ln/>
        </p:spPr>
      </p:sp>
      <p:sp>
        <p:nvSpPr>
          <p:cNvPr id="8" name="Text 6"/>
          <p:cNvSpPr/>
          <p:nvPr/>
        </p:nvSpPr>
        <p:spPr>
          <a:xfrm>
            <a:off x="6223000" y="2153841"/>
            <a:ext cx="5075428"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9CC9A8"/>
                </a:solidFill>
                <a:latin typeface="DM Sans" pitchFamily="34" charset="0"/>
                <a:ea typeface="DM Sans" pitchFamily="34" charset="-122"/>
                <a:cs typeface="DM Sans" pitchFamily="34" charset="-120"/>
              </a:rPr>
              <a:t>Næste skridt</a:t>
            </a:r>
            <a:endParaRPr lang="en-US" sz="1700" dirty="0"/>
          </a:p>
        </p:txBody>
      </p:sp>
      <p:sp>
        <p:nvSpPr>
          <p:cNvPr id="9" name="Text 7"/>
          <p:cNvSpPr/>
          <p:nvPr/>
        </p:nvSpPr>
        <p:spPr>
          <a:xfrm>
            <a:off x="6307582" y="2514501"/>
            <a:ext cx="4983226" cy="8255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F6F4EE"/>
                </a:solidFill>
                <a:latin typeface="DM Sans" pitchFamily="34" charset="0"/>
                <a:ea typeface="DM Sans" pitchFamily="34" charset="-122"/>
                <a:cs typeface="DM Sans" pitchFamily="34" charset="-120"/>
              </a:rPr>
              <a:t>Afklar skærmen i fælleshuset med Bob</a:t>
            </a:r>
            <a:endParaRPr lang="en-US" sz="1400" dirty="0"/>
          </a:p>
          <a:p>
            <a:pPr algn="l" marL="169418" indent="-169418">
              <a:lnSpc>
                <a:spcPts val="2100"/>
              </a:lnSpc>
              <a:buSzPct val="100000"/>
              <a:buChar char="•"/>
            </a:pPr>
            <a:r>
              <a:rPr lang="en-US" sz="1400" dirty="0">
                <a:solidFill>
                  <a:srgbClr val="F6F4EE"/>
                </a:solidFill>
                <a:latin typeface="DM Sans" pitchFamily="34" charset="0"/>
                <a:ea typeface="DM Sans" pitchFamily="34" charset="-122"/>
                <a:cs typeface="DM Sans" pitchFamily="34" charset="-120"/>
              </a:rPr>
              <a:t>Flyt reglerne for afslutning til modellen</a:t>
            </a:r>
            <a:endParaRPr lang="en-US" sz="1400" dirty="0"/>
          </a:p>
          <a:p>
            <a:pPr algn="l" marL="169418" indent="-169418">
              <a:lnSpc>
                <a:spcPts val="2100"/>
              </a:lnSpc>
              <a:buSzPct val="100000"/>
              <a:buChar char="•"/>
            </a:pPr>
            <a:r>
              <a:rPr lang="en-US" sz="1400" dirty="0">
                <a:solidFill>
                  <a:srgbClr val="F6F4EE"/>
                </a:solidFill>
                <a:latin typeface="DM Sans" pitchFamily="34" charset="0"/>
                <a:ea typeface="DM Sans" pitchFamily="34" charset="-122"/>
                <a:cs typeface="DM Sans" pitchFamily="34" charset="-120"/>
              </a:rPr>
              <a:t>Mål for fællespuljen og pointboost</a:t>
            </a:r>
            <a:endParaRPr lang="en-US" sz="1400" dirty="0"/>
          </a:p>
        </p:txBody>
      </p:sp>
      <p:sp>
        <p:nvSpPr>
          <p:cNvPr id="10" name="Text 8"/>
          <p:cNvSpPr/>
          <p:nvPr/>
        </p:nvSpPr>
        <p:spPr>
          <a:xfrm>
            <a:off x="812800" y="3822601"/>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9CC9A8"/>
                </a:solidFill>
                <a:latin typeface="Domine" pitchFamily="18" charset="0"/>
                <a:ea typeface="Domine" pitchFamily="18" charset="-122"/>
                <a:cs typeface="Domine" pitchFamily="18" charset="-120"/>
              </a:rPr>
              <a:t>Tak – vi ser frem til samtalen.</a:t>
            </a:r>
            <a:endParaRPr lang="en-US" sz="2000" dirty="0"/>
          </a:p>
        </p:txBody>
      </p:sp>
      <p:sp>
        <p:nvSpPr>
          <p:cNvPr id="11" name="Text 9"/>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CC9A8"/>
                </a:solidFill>
                <a:latin typeface="DM Sans" pitchFamily="34" charset="0"/>
                <a:ea typeface="DM Sans" pitchFamily="34" charset="-122"/>
                <a:cs typeface="DM Sans" pitchFamily="34" charset="-120"/>
              </a:rPr>
              <a:t>Kløverly · SEP1 reeksamen</a:t>
            </a:r>
            <a:endParaRPr lang="en-US" sz="1200" dirty="0"/>
          </a:p>
        </p:txBody>
      </p:sp>
      <p:sp>
        <p:nvSpPr>
          <p:cNvPr id="12" name="Text 10"/>
          <p:cNvSpPr/>
          <p:nvPr/>
        </p:nvSpPr>
        <p:spPr>
          <a:xfrm>
            <a:off x="9417050" y="6238280"/>
            <a:ext cx="196215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9CC9A8"/>
                </a:solidFill>
                <a:latin typeface="DM Sans" pitchFamily="34" charset="0"/>
                <a:ea typeface="DM Sans" pitchFamily="34" charset="-122"/>
                <a:cs typeface="DM Sans" pitchFamily="34" charset="-120"/>
              </a:rPr>
              <a:t>Mehmet</a:t>
            </a:r>
            <a:endParaRPr lang="en-US" sz="1200" dirty="0"/>
          </a:p>
        </p:txBody>
      </p:sp>
    </p:spTree>
  </p:cSld>
  <p:clrMapOvr>
    <a:masterClrMapping/>
  </p:clrMapOvr>
</p:sld>
</file>

<file path=ppt/theme/theme1.xml><?xml version="1.0" encoding="utf-8"?>
<a:theme xmlns:a="http://schemas.openxmlformats.org/drawingml/2006/main" name="Kløverly – videopræsentation">
  <a:themeElements>
    <a:clrScheme name="Kløverly – videopræsentation">
      <a:dk1>
        <a:srgbClr val="1B3D2F"/>
      </a:dk1>
      <a:lt1>
        <a:srgbClr val="F6F4EE"/>
      </a:lt1>
      <a:dk2>
        <a:srgbClr val="526B5F"/>
      </a:dk2>
      <a:lt2>
        <a:srgbClr val="E0E2DB"/>
      </a:lt2>
      <a:accent1>
        <a:srgbClr val="3E8E5A"/>
      </a:accent1>
      <a:accent2>
        <a:srgbClr val="9CC9A8"/>
      </a:accent2>
      <a:accent3>
        <a:srgbClr val="2E6E8E"/>
      </a:accent3>
      <a:accent4>
        <a:srgbClr val="8A5A12"/>
      </a:accent4>
      <a:accent5>
        <a:srgbClr val="F2C46D"/>
      </a:accent5>
      <a:accent6>
        <a:srgbClr val="3A4A42"/>
      </a:accent6>
      <a:hlink>
        <a:srgbClr val="0563C1"/>
      </a:hlink>
      <a:folHlink>
        <a:srgbClr val="954F72"/>
      </a:folHlink>
    </a:clrScheme>
    <a:fontScheme name="Kløverly – videopræsentation">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Kløverly – videopræsentation</dc:title>
  <dc:subject/>
  <dc:creator/>
  <cp:lastModifiedBy/>
  <cp:revision>1</cp:revision>
  <dcterms:created xsi:type="dcterms:W3CDTF">2026-10-16T01:23:05Z</dcterms:created>
  <dcterms:modified xsi:type="dcterms:W3CDTF">2026-10-16T01:23:05Z</dcterms:modified>
</cp:coreProperties>
</file>